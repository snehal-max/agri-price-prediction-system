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14"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2937"/>
                </a:solidFill>
                <a:latin typeface="Arial"/>
              </a:defRPr>
            </a:pPr>
            <a:r>
              <a:rPr lang="en-US" sz="1200" b="0" i="0" u="none" strike="noStrike">
                <a:solidFill>
                  <a:srgbClr val="1F2937"/>
                </a:solidFill>
                <a:latin typeface="Arial"/>
              </a:rPr>
              <a:t>R² Score by Week — Single Model (Lower = Worse)</a:t>
            </a:r>
          </a:p>
        </c:rich>
      </c:tx>
      <c:overlay val="0"/>
    </c:title>
    <c:autoTitleDeleted val="0"/>
    <c:plotArea>
      <c:layout/>
      <c:barChart>
        <c:barDir val="col"/>
        <c:grouping val="clustered"/>
        <c:varyColors val="0"/>
        <c:ser>
          <c:idx val="0"/>
          <c:order val="0"/>
          <c:tx>
            <c:strRef>
              <c:f>Sheet1!$B$1</c:f>
              <c:strCache>
                <c:ptCount val="1"/>
                <c:pt idx="0">
                  <c:v>R² Score</c:v>
                </c:pt>
              </c:strCache>
            </c:strRef>
          </c:tx>
          <c:spPr>
            <a:solidFill>
              <a:srgbClr val="22C55E"/>
            </a:solidFill>
            <a:effectLst/>
          </c:spPr>
          <c:invertIfNegative val="0"/>
          <c:dPt>
            <c:idx val="0"/>
            <c:invertIfNegative val="0"/>
            <c:bubble3D val="0"/>
            <c:extLst>
              <c:ext xmlns:c16="http://schemas.microsoft.com/office/drawing/2014/chart" uri="{C3380CC4-5D6E-409C-BE32-E72D297353CC}">
                <c16:uniqueId val="{00000001-1F88-442D-9747-6CB0711A7BB0}"/>
              </c:ext>
            </c:extLst>
          </c:dPt>
          <c:dPt>
            <c:idx val="1"/>
            <c:invertIfNegative val="0"/>
            <c:bubble3D val="0"/>
            <c:spPr>
              <a:solidFill>
                <a:srgbClr val="F59E0B"/>
              </a:solidFill>
              <a:effectLst/>
            </c:spPr>
            <c:extLst>
              <c:ext xmlns:c16="http://schemas.microsoft.com/office/drawing/2014/chart" uri="{C3380CC4-5D6E-409C-BE32-E72D297353CC}">
                <c16:uniqueId val="{00000003-1F88-442D-9747-6CB0711A7BB0}"/>
              </c:ext>
            </c:extLst>
          </c:dPt>
          <c:dPt>
            <c:idx val="2"/>
            <c:invertIfNegative val="0"/>
            <c:bubble3D val="0"/>
            <c:spPr>
              <a:solidFill>
                <a:srgbClr val="F97316"/>
              </a:solidFill>
              <a:effectLst/>
            </c:spPr>
            <c:extLst>
              <c:ext xmlns:c16="http://schemas.microsoft.com/office/drawing/2014/chart" uri="{C3380CC4-5D6E-409C-BE32-E72D297353CC}">
                <c16:uniqueId val="{00000005-1F88-442D-9747-6CB0711A7BB0}"/>
              </c:ext>
            </c:extLst>
          </c:dPt>
          <c:dPt>
            <c:idx val="3"/>
            <c:invertIfNegative val="0"/>
            <c:bubble3D val="0"/>
            <c:spPr>
              <a:solidFill>
                <a:srgbClr val="EF4444"/>
              </a:solidFill>
              <a:effectLst/>
            </c:spPr>
            <c:extLst>
              <c:ext xmlns:c16="http://schemas.microsoft.com/office/drawing/2014/chart" uri="{C3380CC4-5D6E-409C-BE32-E72D297353CC}">
                <c16:uniqueId val="{00000007-1F88-442D-9747-6CB0711A7BB0}"/>
              </c:ext>
            </c:extLst>
          </c:dPt>
          <c:dLbls>
            <c:numFmt formatCode="0.00" sourceLinked="0"/>
            <c:spPr>
              <a:noFill/>
              <a:ln>
                <a:noFill/>
              </a:ln>
              <a:effectLst/>
            </c:spPr>
            <c:txPr>
              <a:bodyPr/>
              <a:lstStyle/>
              <a:p>
                <a:pPr>
                  <a:defRPr sz="12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Week 1</c:v>
                </c:pt>
                <c:pt idx="1">
                  <c:v>Week 2</c:v>
                </c:pt>
                <c:pt idx="2">
                  <c:v>Week 3</c:v>
                </c:pt>
                <c:pt idx="3">
                  <c:v>Week 4</c:v>
                </c:pt>
              </c:strCache>
            </c:strRef>
          </c:cat>
          <c:val>
            <c:numRef>
              <c:f>Sheet1!$B$2:$B$5</c:f>
              <c:numCache>
                <c:formatCode>General</c:formatCode>
                <c:ptCount val="4"/>
                <c:pt idx="0">
                  <c:v>0.93</c:v>
                </c:pt>
                <c:pt idx="1">
                  <c:v>0.79</c:v>
                </c:pt>
                <c:pt idx="2">
                  <c:v>0.64</c:v>
                </c:pt>
                <c:pt idx="3">
                  <c:v>0.51</c:v>
                </c:pt>
              </c:numCache>
            </c:numRef>
          </c:val>
          <c:extLst>
            <c:ext xmlns:c16="http://schemas.microsoft.com/office/drawing/2014/chart" uri="{C3380CC4-5D6E-409C-BE32-E72D297353CC}">
              <c16:uniqueId val="{00000008-1F88-442D-9747-6CB0711A7BB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74151"/>
                </a:solidFill>
                <a:latin typeface="Arial"/>
              </a:defRPr>
            </a:pPr>
            <a:endParaRPr lang="en-US"/>
          </a:p>
        </c:txPr>
        <c:crossAx val="2094734552"/>
        <c:crosses val="autoZero"/>
        <c:auto val="1"/>
        <c:lblAlgn val="ctr"/>
        <c:lblOffset val="100"/>
        <c:noMultiLvlLbl val="1"/>
      </c:catAx>
      <c:valAx>
        <c:axId val="2094734552"/>
        <c:scaling>
          <c:orientation val="minMax"/>
          <c:max val="1"/>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74151"/>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4467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A0E"/>
        </a:solidFill>
        <a:effectLst/>
      </p:bgPr>
    </p:bg>
    <p:spTree>
      <p:nvGrpSpPr>
        <p:cNvPr id="1" name=""/>
        <p:cNvGrpSpPr/>
        <p:nvPr/>
      </p:nvGrpSpPr>
      <p:grpSpPr>
        <a:xfrm>
          <a:off x="0" y="0"/>
          <a:ext cx="0" cy="0"/>
          <a:chOff x="0" y="0"/>
          <a:chExt cx="0" cy="0"/>
        </a:xfrm>
      </p:grpSpPr>
      <p:sp>
        <p:nvSpPr>
          <p:cNvPr id="2" name="Shape 0"/>
          <p:cNvSpPr/>
          <p:nvPr/>
        </p:nvSpPr>
        <p:spPr>
          <a:xfrm>
            <a:off x="-1371600" y="-914400"/>
            <a:ext cx="5486400" cy="5486400"/>
          </a:xfrm>
          <a:prstGeom prst="ellipse">
            <a:avLst/>
          </a:prstGeom>
          <a:solidFill>
            <a:srgbClr val="14532D">
              <a:alpha val="40000"/>
            </a:srgbClr>
          </a:solidFill>
          <a:ln/>
        </p:spPr>
      </p:sp>
      <p:sp>
        <p:nvSpPr>
          <p:cNvPr id="3" name="Shape 1"/>
          <p:cNvSpPr/>
          <p:nvPr/>
        </p:nvSpPr>
        <p:spPr>
          <a:xfrm>
            <a:off x="9601200" y="-1371600"/>
            <a:ext cx="3657600" cy="3657600"/>
          </a:xfrm>
          <a:prstGeom prst="ellipse">
            <a:avLst/>
          </a:prstGeom>
          <a:solidFill>
            <a:srgbClr val="F59E0B">
              <a:alpha val="25000"/>
            </a:srgbClr>
          </a:solidFill>
          <a:ln/>
        </p:spPr>
      </p:sp>
      <p:sp>
        <p:nvSpPr>
          <p:cNvPr id="4" name="Shape 2"/>
          <p:cNvSpPr/>
          <p:nvPr/>
        </p:nvSpPr>
        <p:spPr>
          <a:xfrm>
            <a:off x="0" y="6784848"/>
            <a:ext cx="12161520" cy="73152"/>
          </a:xfrm>
          <a:prstGeom prst="rect">
            <a:avLst/>
          </a:prstGeom>
          <a:solidFill>
            <a:srgbClr val="F59E0B"/>
          </a:solidFill>
          <a:ln/>
        </p:spPr>
      </p:sp>
      <p:sp>
        <p:nvSpPr>
          <p:cNvPr id="5" name="Shape 3"/>
          <p:cNvSpPr/>
          <p:nvPr/>
        </p:nvSpPr>
        <p:spPr>
          <a:xfrm>
            <a:off x="457200" y="365760"/>
            <a:ext cx="4572000" cy="384048"/>
          </a:xfrm>
          <a:prstGeom prst="roundRect">
            <a:avLst>
              <a:gd name="adj" fmla="val 19048"/>
            </a:avLst>
          </a:prstGeom>
          <a:solidFill>
            <a:srgbClr val="166534">
              <a:alpha val="70000"/>
            </a:srgbClr>
          </a:solidFill>
          <a:ln/>
        </p:spPr>
      </p:sp>
      <p:sp>
        <p:nvSpPr>
          <p:cNvPr id="6" name="Text 4"/>
          <p:cNvSpPr/>
          <p:nvPr/>
        </p:nvSpPr>
        <p:spPr>
          <a:xfrm>
            <a:off x="457200" y="365760"/>
            <a:ext cx="4572000" cy="384048"/>
          </a:xfrm>
          <a:prstGeom prst="rect">
            <a:avLst/>
          </a:prstGeom>
          <a:noFill/>
          <a:ln/>
        </p:spPr>
        <p:txBody>
          <a:bodyPr wrap="square" rtlCol="0" anchor="ctr"/>
          <a:lstStyle/>
          <a:p>
            <a:pPr marL="0" indent="0" algn="ctr">
              <a:buNone/>
            </a:pPr>
            <a:r>
              <a:rPr lang="en-US" sz="1050" b="1" dirty="0">
                <a:solidFill>
                  <a:srgbClr val="FCD34D"/>
                </a:solidFill>
              </a:rPr>
              <a:t>🏆  IDEATHON 2026  |  NIT Durgapur</a:t>
            </a:r>
            <a:endParaRPr lang="en-US" sz="1050" dirty="0"/>
          </a:p>
        </p:txBody>
      </p:sp>
      <p:sp>
        <p:nvSpPr>
          <p:cNvPr id="7" name="Text 5"/>
          <p:cNvSpPr/>
          <p:nvPr/>
        </p:nvSpPr>
        <p:spPr>
          <a:xfrm>
            <a:off x="365760" y="1069848"/>
            <a:ext cx="7315200" cy="1247744"/>
          </a:xfrm>
          <a:prstGeom prst="rect">
            <a:avLst/>
          </a:prstGeom>
          <a:noFill/>
          <a:ln/>
        </p:spPr>
        <p:txBody>
          <a:bodyPr wrap="square" rtlCol="0" anchor="ctr"/>
          <a:lstStyle/>
          <a:p>
            <a:pPr marL="0" indent="0">
              <a:buNone/>
            </a:pPr>
            <a:r>
              <a:rPr lang="en-US" sz="7200" b="1" dirty="0">
                <a:solidFill>
                  <a:srgbClr val="F59E0B"/>
                </a:solidFill>
                <a:latin typeface="Georgia" pitchFamily="34" charset="0"/>
                <a:ea typeface="Georgia" pitchFamily="34" charset="-122"/>
                <a:cs typeface="Georgia" pitchFamily="34" charset="-120"/>
              </a:rPr>
              <a:t>Agri Price </a:t>
            </a:r>
            <a:r>
              <a:rPr lang="en-US" sz="5000" b="1" dirty="0">
                <a:solidFill>
                  <a:srgbClr val="F59E0B"/>
                </a:solidFill>
                <a:latin typeface="Georgia" pitchFamily="34" charset="0"/>
                <a:ea typeface="Georgia" pitchFamily="34" charset="-122"/>
                <a:cs typeface="Georgia" pitchFamily="34" charset="-120"/>
              </a:rPr>
              <a:t>Prediction</a:t>
            </a:r>
            <a:r>
              <a:rPr lang="en-US" sz="7200" b="1" dirty="0">
                <a:solidFill>
                  <a:srgbClr val="F59E0B"/>
                </a:solidFill>
                <a:latin typeface="Georgia" pitchFamily="34" charset="0"/>
                <a:ea typeface="Georgia" pitchFamily="34" charset="-122"/>
                <a:cs typeface="Georgia" pitchFamily="34" charset="-120"/>
              </a:rPr>
              <a:t> System</a:t>
            </a:r>
            <a:endParaRPr lang="en-US" sz="7200" dirty="0"/>
          </a:p>
        </p:txBody>
      </p:sp>
      <p:sp>
        <p:nvSpPr>
          <p:cNvPr id="8" name="Text 6"/>
          <p:cNvSpPr/>
          <p:nvPr/>
        </p:nvSpPr>
        <p:spPr>
          <a:xfrm>
            <a:off x="3931920" y="-713911"/>
            <a:ext cx="8229600" cy="621792"/>
          </a:xfrm>
          <a:prstGeom prst="rect">
            <a:avLst/>
          </a:prstGeom>
          <a:noFill/>
          <a:ln/>
        </p:spPr>
        <p:txBody>
          <a:bodyPr wrap="square" rtlCol="0" anchor="ctr"/>
          <a:lstStyle/>
          <a:p>
            <a:pPr marL="0" indent="0">
              <a:buNone/>
            </a:pPr>
            <a:r>
              <a:rPr lang="en-US" sz="2400" b="1" dirty="0">
                <a:solidFill>
                  <a:srgbClr val="22C55E"/>
                </a:solidFill>
              </a:rPr>
              <a:t>Agri Price Prediction System</a:t>
            </a:r>
            <a:endParaRPr lang="en-US" sz="2400" dirty="0"/>
          </a:p>
        </p:txBody>
      </p:sp>
      <p:sp>
        <p:nvSpPr>
          <p:cNvPr id="9" name="Text 7"/>
          <p:cNvSpPr/>
          <p:nvPr/>
        </p:nvSpPr>
        <p:spPr>
          <a:xfrm>
            <a:off x="457200" y="2651760"/>
            <a:ext cx="8686800" cy="457200"/>
          </a:xfrm>
          <a:prstGeom prst="rect">
            <a:avLst/>
          </a:prstGeom>
          <a:noFill/>
          <a:ln/>
        </p:spPr>
        <p:txBody>
          <a:bodyPr wrap="square" rtlCol="0" anchor="ctr"/>
          <a:lstStyle/>
          <a:p>
            <a:pPr marL="0" indent="0">
              <a:buNone/>
            </a:pPr>
            <a:r>
              <a:rPr lang="en-US" sz="1500" i="1" dirty="0">
                <a:solidFill>
                  <a:srgbClr val="A7F3D0"/>
                </a:solidFill>
              </a:rPr>
              <a:t>AI-Powered Crop Market Forecasting for Smarter Farmer Decisions</a:t>
            </a:r>
            <a:endParaRPr lang="en-US" sz="1500" dirty="0"/>
          </a:p>
        </p:txBody>
      </p:sp>
      <p:sp>
        <p:nvSpPr>
          <p:cNvPr id="10" name="Shape 8"/>
          <p:cNvSpPr/>
          <p:nvPr/>
        </p:nvSpPr>
        <p:spPr>
          <a:xfrm>
            <a:off x="457200" y="3246120"/>
            <a:ext cx="8229600" cy="36576"/>
          </a:xfrm>
          <a:prstGeom prst="rect">
            <a:avLst/>
          </a:prstGeom>
          <a:solidFill>
            <a:srgbClr val="166534"/>
          </a:solidFill>
          <a:ln/>
        </p:spPr>
      </p:sp>
      <p:sp>
        <p:nvSpPr>
          <p:cNvPr id="11" name="Text 9"/>
          <p:cNvSpPr/>
          <p:nvPr/>
        </p:nvSpPr>
        <p:spPr>
          <a:xfrm>
            <a:off x="457200" y="3383280"/>
            <a:ext cx="4572000" cy="411480"/>
          </a:xfrm>
          <a:prstGeom prst="rect">
            <a:avLst/>
          </a:prstGeom>
          <a:noFill/>
          <a:ln/>
        </p:spPr>
        <p:txBody>
          <a:bodyPr wrap="square" rtlCol="0" anchor="ctr"/>
          <a:lstStyle/>
          <a:p>
            <a:pPr marL="0" indent="0">
              <a:buNone/>
            </a:pPr>
            <a:r>
              <a:rPr lang="en-US" sz="1800" b="1" dirty="0">
                <a:solidFill>
                  <a:srgbClr val="FFFFFF"/>
                </a:solidFill>
              </a:rPr>
              <a:t>Team AXILLA</a:t>
            </a:r>
            <a:endParaRPr lang="en-US" sz="1800" dirty="0"/>
          </a:p>
        </p:txBody>
      </p:sp>
      <p:sp>
        <p:nvSpPr>
          <p:cNvPr id="12" name="Shape 10"/>
          <p:cNvSpPr/>
          <p:nvPr/>
        </p:nvSpPr>
        <p:spPr>
          <a:xfrm>
            <a:off x="457200" y="3840480"/>
            <a:ext cx="201168" cy="201168"/>
          </a:xfrm>
          <a:prstGeom prst="ellipse">
            <a:avLst/>
          </a:prstGeom>
          <a:solidFill>
            <a:srgbClr val="F59E0B"/>
          </a:solidFill>
          <a:ln/>
        </p:spPr>
      </p:sp>
      <p:sp>
        <p:nvSpPr>
          <p:cNvPr id="13" name="Text 11"/>
          <p:cNvSpPr/>
          <p:nvPr/>
        </p:nvSpPr>
        <p:spPr>
          <a:xfrm>
            <a:off x="713232" y="3822192"/>
            <a:ext cx="1737360" cy="256032"/>
          </a:xfrm>
          <a:prstGeom prst="rect">
            <a:avLst/>
          </a:prstGeom>
          <a:noFill/>
          <a:ln/>
        </p:spPr>
        <p:txBody>
          <a:bodyPr wrap="square" rtlCol="0" anchor="ctr"/>
          <a:lstStyle/>
          <a:p>
            <a:pPr marL="0" indent="0">
              <a:buNone/>
            </a:pPr>
            <a:r>
              <a:rPr lang="en-US" sz="1100" dirty="0">
                <a:solidFill>
                  <a:srgbClr val="F0FDF4"/>
                </a:solidFill>
              </a:rPr>
              <a:t>Snehal Muduli</a:t>
            </a:r>
            <a:endParaRPr lang="en-US" sz="1100" dirty="0"/>
          </a:p>
        </p:txBody>
      </p:sp>
      <p:sp>
        <p:nvSpPr>
          <p:cNvPr id="14" name="Shape 12"/>
          <p:cNvSpPr/>
          <p:nvPr/>
        </p:nvSpPr>
        <p:spPr>
          <a:xfrm>
            <a:off x="2468880" y="3840480"/>
            <a:ext cx="201168" cy="201168"/>
          </a:xfrm>
          <a:prstGeom prst="ellipse">
            <a:avLst/>
          </a:prstGeom>
          <a:solidFill>
            <a:srgbClr val="F59E0B"/>
          </a:solidFill>
          <a:ln/>
        </p:spPr>
      </p:sp>
      <p:sp>
        <p:nvSpPr>
          <p:cNvPr id="15" name="Text 13"/>
          <p:cNvSpPr/>
          <p:nvPr/>
        </p:nvSpPr>
        <p:spPr>
          <a:xfrm>
            <a:off x="2724912" y="3822192"/>
            <a:ext cx="1737360" cy="256032"/>
          </a:xfrm>
          <a:prstGeom prst="rect">
            <a:avLst/>
          </a:prstGeom>
          <a:noFill/>
          <a:ln/>
        </p:spPr>
        <p:txBody>
          <a:bodyPr wrap="square" rtlCol="0" anchor="ctr"/>
          <a:lstStyle/>
          <a:p>
            <a:pPr marL="0" indent="0">
              <a:buNone/>
            </a:pPr>
            <a:r>
              <a:rPr lang="en-US" sz="1100" dirty="0">
                <a:solidFill>
                  <a:srgbClr val="F0FDF4"/>
                </a:solidFill>
              </a:rPr>
              <a:t>Shreyas Sahoo</a:t>
            </a:r>
            <a:endParaRPr lang="en-US" sz="1100" dirty="0"/>
          </a:p>
        </p:txBody>
      </p:sp>
      <p:sp>
        <p:nvSpPr>
          <p:cNvPr id="16" name="Shape 14"/>
          <p:cNvSpPr/>
          <p:nvPr/>
        </p:nvSpPr>
        <p:spPr>
          <a:xfrm>
            <a:off x="4480560" y="3840480"/>
            <a:ext cx="201168" cy="201168"/>
          </a:xfrm>
          <a:prstGeom prst="ellipse">
            <a:avLst/>
          </a:prstGeom>
          <a:solidFill>
            <a:srgbClr val="F59E0B"/>
          </a:solidFill>
          <a:ln/>
        </p:spPr>
      </p:sp>
      <p:sp>
        <p:nvSpPr>
          <p:cNvPr id="17" name="Text 15"/>
          <p:cNvSpPr/>
          <p:nvPr/>
        </p:nvSpPr>
        <p:spPr>
          <a:xfrm>
            <a:off x="4736592" y="3822192"/>
            <a:ext cx="1737360" cy="256032"/>
          </a:xfrm>
          <a:prstGeom prst="rect">
            <a:avLst/>
          </a:prstGeom>
          <a:noFill/>
          <a:ln/>
        </p:spPr>
        <p:txBody>
          <a:bodyPr wrap="square" rtlCol="0" anchor="ctr"/>
          <a:lstStyle/>
          <a:p>
            <a:pPr marL="0" indent="0">
              <a:buNone/>
            </a:pPr>
            <a:r>
              <a:rPr lang="en-US" sz="1100" dirty="0">
                <a:solidFill>
                  <a:srgbClr val="F0FDF4"/>
                </a:solidFill>
              </a:rPr>
              <a:t>Arnab Bhattacharya</a:t>
            </a:r>
            <a:endParaRPr lang="en-US" sz="1100" dirty="0"/>
          </a:p>
        </p:txBody>
      </p:sp>
      <p:sp>
        <p:nvSpPr>
          <p:cNvPr id="18" name="Shape 16"/>
          <p:cNvSpPr/>
          <p:nvPr/>
        </p:nvSpPr>
        <p:spPr>
          <a:xfrm>
            <a:off x="6492240" y="3840480"/>
            <a:ext cx="201168" cy="201168"/>
          </a:xfrm>
          <a:prstGeom prst="ellipse">
            <a:avLst/>
          </a:prstGeom>
          <a:solidFill>
            <a:srgbClr val="F59E0B"/>
          </a:solidFill>
          <a:ln/>
        </p:spPr>
      </p:sp>
      <p:sp>
        <p:nvSpPr>
          <p:cNvPr id="19" name="Text 17"/>
          <p:cNvSpPr/>
          <p:nvPr/>
        </p:nvSpPr>
        <p:spPr>
          <a:xfrm>
            <a:off x="6748272" y="3822192"/>
            <a:ext cx="1737360" cy="256032"/>
          </a:xfrm>
          <a:prstGeom prst="rect">
            <a:avLst/>
          </a:prstGeom>
          <a:noFill/>
          <a:ln/>
        </p:spPr>
        <p:txBody>
          <a:bodyPr wrap="square" rtlCol="0" anchor="ctr"/>
          <a:lstStyle/>
          <a:p>
            <a:pPr marL="0" indent="0">
              <a:buNone/>
            </a:pPr>
            <a:r>
              <a:rPr lang="en-US" sz="1100" dirty="0">
                <a:solidFill>
                  <a:srgbClr val="F0FDF4"/>
                </a:solidFill>
              </a:rPr>
              <a:t>Dharmanshu Kumar</a:t>
            </a:r>
            <a:endParaRPr lang="en-US" sz="1100" dirty="0"/>
          </a:p>
        </p:txBody>
      </p:sp>
      <p:sp>
        <p:nvSpPr>
          <p:cNvPr id="20" name="Text 18"/>
          <p:cNvSpPr/>
          <p:nvPr/>
        </p:nvSpPr>
        <p:spPr>
          <a:xfrm>
            <a:off x="457200" y="4224528"/>
            <a:ext cx="9144000" cy="320040"/>
          </a:xfrm>
          <a:prstGeom prst="rect">
            <a:avLst/>
          </a:prstGeom>
          <a:noFill/>
          <a:ln/>
        </p:spPr>
        <p:txBody>
          <a:bodyPr wrap="square" rtlCol="0" anchor="ctr"/>
          <a:lstStyle/>
          <a:p>
            <a:pPr marL="0" indent="0">
              <a:buNone/>
            </a:pPr>
            <a:r>
              <a:rPr lang="en-US" sz="1200" i="1" dirty="0">
                <a:solidFill>
                  <a:srgbClr val="A7F3D0"/>
                </a:solidFill>
              </a:rPr>
              <a:t>Indian Institute of Technology, Kharagpur  ·  SRM Institute of Science &amp; Technology</a:t>
            </a:r>
            <a:endParaRPr lang="en-US" sz="1200" dirty="0"/>
          </a:p>
        </p:txBody>
      </p:sp>
      <p:sp>
        <p:nvSpPr>
          <p:cNvPr id="21" name="Text 19"/>
          <p:cNvSpPr/>
          <p:nvPr/>
        </p:nvSpPr>
        <p:spPr>
          <a:xfrm>
            <a:off x="9326880" y="1645920"/>
            <a:ext cx="2286000" cy="2743200"/>
          </a:xfrm>
          <a:prstGeom prst="rect">
            <a:avLst/>
          </a:prstGeom>
          <a:noFill/>
          <a:ln/>
        </p:spPr>
        <p:txBody>
          <a:bodyPr wrap="square" rtlCol="0" anchor="ctr"/>
          <a:lstStyle/>
          <a:p>
            <a:pPr marL="0" indent="0" algn="ctr">
              <a:buNone/>
            </a:pPr>
            <a:r>
              <a:rPr lang="en-US" sz="12000" dirty="0">
                <a:solidFill>
                  <a:srgbClr val="000000"/>
                </a:solidFill>
              </a:rPr>
              <a:t>🌾</a:t>
            </a:r>
            <a:endParaRPr lang="en-US" sz="1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FF9"/>
        </a:solidFill>
        <a:effectLst/>
      </p:bgPr>
    </p:bg>
    <p:spTree>
      <p:nvGrpSpPr>
        <p:cNvPr id="1" name=""/>
        <p:cNvGrpSpPr/>
        <p:nvPr/>
      </p:nvGrpSpPr>
      <p:grpSpPr>
        <a:xfrm>
          <a:off x="0" y="0"/>
          <a:ext cx="0" cy="0"/>
          <a:chOff x="0" y="0"/>
          <a:chExt cx="0" cy="0"/>
        </a:xfrm>
      </p:grpSpPr>
      <p:sp>
        <p:nvSpPr>
          <p:cNvPr id="2" name="Shape 0"/>
          <p:cNvSpPr/>
          <p:nvPr/>
        </p:nvSpPr>
        <p:spPr>
          <a:xfrm>
            <a:off x="365760" y="228600"/>
            <a:ext cx="2011680" cy="347472"/>
          </a:xfrm>
          <a:prstGeom prst="roundRect">
            <a:avLst>
              <a:gd name="adj" fmla="val 13158"/>
            </a:avLst>
          </a:prstGeom>
          <a:solidFill>
            <a:srgbClr val="EF4444"/>
          </a:solidFill>
          <a:ln/>
          <a:effectLst>
            <a:outerShdw blurRad="101600" dist="38100" dir="8100000" algn="bl" rotWithShape="0">
              <a:srgbClr val="000000">
                <a:alpha val="18000"/>
              </a:srgbClr>
            </a:outerShdw>
          </a:effectLst>
        </p:spPr>
      </p:sp>
      <p:sp>
        <p:nvSpPr>
          <p:cNvPr id="3" name="Text 1"/>
          <p:cNvSpPr/>
          <p:nvPr/>
        </p:nvSpPr>
        <p:spPr>
          <a:xfrm>
            <a:off x="365760" y="228600"/>
            <a:ext cx="2011680" cy="347472"/>
          </a:xfrm>
          <a:prstGeom prst="rect">
            <a:avLst/>
          </a:prstGeom>
          <a:noFill/>
          <a:ln/>
        </p:spPr>
        <p:txBody>
          <a:bodyPr wrap="square" rtlCol="0" anchor="ctr"/>
          <a:lstStyle/>
          <a:p>
            <a:pPr marL="0" indent="0" algn="ctr">
              <a:buNone/>
            </a:pPr>
            <a:r>
              <a:rPr lang="en-US" sz="1000" b="1" dirty="0">
                <a:solidFill>
                  <a:srgbClr val="FFFFFF"/>
                </a:solidFill>
              </a:rPr>
              <a:t>01  THE REAL PROBLEM</a:t>
            </a:r>
            <a:endParaRPr lang="en-US" sz="1000" dirty="0"/>
          </a:p>
        </p:txBody>
      </p:sp>
      <p:sp>
        <p:nvSpPr>
          <p:cNvPr id="4" name="Text 2"/>
          <p:cNvSpPr/>
          <p:nvPr/>
        </p:nvSpPr>
        <p:spPr>
          <a:xfrm>
            <a:off x="365760" y="640080"/>
            <a:ext cx="11430000" cy="594360"/>
          </a:xfrm>
          <a:prstGeom prst="rect">
            <a:avLst/>
          </a:prstGeom>
          <a:noFill/>
          <a:ln/>
        </p:spPr>
        <p:txBody>
          <a:bodyPr wrap="square" rtlCol="0" anchor="ctr"/>
          <a:lstStyle/>
          <a:p>
            <a:pPr marL="0" indent="0">
              <a:buNone/>
            </a:pPr>
            <a:r>
              <a:rPr lang="en-US" sz="2600" b="1" dirty="0">
                <a:solidFill>
                  <a:srgbClr val="0A2E1A"/>
                </a:solidFill>
                <a:latin typeface="Georgia" pitchFamily="34" charset="0"/>
                <a:ea typeface="Georgia" pitchFamily="34" charset="-122"/>
                <a:cs typeface="Georgia" pitchFamily="34" charset="-120"/>
              </a:rPr>
              <a:t>What Is Actually Happening to Indian Farmers?</a:t>
            </a:r>
            <a:endParaRPr lang="en-US" sz="2600" dirty="0"/>
          </a:p>
        </p:txBody>
      </p:sp>
      <p:sp>
        <p:nvSpPr>
          <p:cNvPr id="5" name="Shape 3"/>
          <p:cNvSpPr/>
          <p:nvPr/>
        </p:nvSpPr>
        <p:spPr>
          <a:xfrm>
            <a:off x="365760" y="1371600"/>
            <a:ext cx="5120640" cy="4937760"/>
          </a:xfrm>
          <a:prstGeom prst="rect">
            <a:avLst/>
          </a:prstGeom>
          <a:solidFill>
            <a:srgbClr val="0A2E1A"/>
          </a:solidFill>
          <a:ln/>
          <a:effectLst>
            <a:outerShdw blurRad="101600" dist="38100" dir="8100000" algn="bl" rotWithShape="0">
              <a:srgbClr val="000000">
                <a:alpha val="18000"/>
              </a:srgbClr>
            </a:outerShdw>
          </a:effectLst>
        </p:spPr>
      </p:sp>
      <p:sp>
        <p:nvSpPr>
          <p:cNvPr id="6" name="Text 4"/>
          <p:cNvSpPr/>
          <p:nvPr/>
        </p:nvSpPr>
        <p:spPr>
          <a:xfrm>
            <a:off x="502920" y="1481328"/>
            <a:ext cx="4846320" cy="411480"/>
          </a:xfrm>
          <a:prstGeom prst="rect">
            <a:avLst/>
          </a:prstGeom>
          <a:noFill/>
          <a:ln/>
        </p:spPr>
        <p:txBody>
          <a:bodyPr wrap="square" rtlCol="0" anchor="ctr"/>
          <a:lstStyle/>
          <a:p>
            <a:pPr marL="0" indent="0">
              <a:buNone/>
            </a:pPr>
            <a:r>
              <a:rPr lang="en-US" sz="1600" b="1" dirty="0">
                <a:solidFill>
                  <a:srgbClr val="F59E0B"/>
                </a:solidFill>
              </a:rPr>
              <a:t>The Harvest Trap</a:t>
            </a:r>
            <a:endParaRPr lang="en-US" sz="1600" dirty="0"/>
          </a:p>
        </p:txBody>
      </p:sp>
      <p:sp>
        <p:nvSpPr>
          <p:cNvPr id="7" name="Text 5"/>
          <p:cNvSpPr/>
          <p:nvPr/>
        </p:nvSpPr>
        <p:spPr>
          <a:xfrm>
            <a:off x="502920" y="1920240"/>
            <a:ext cx="4800600" cy="4206240"/>
          </a:xfrm>
          <a:prstGeom prst="rect">
            <a:avLst/>
          </a:prstGeom>
          <a:noFill/>
          <a:ln/>
        </p:spPr>
        <p:txBody>
          <a:bodyPr wrap="square" rtlCol="0" anchor="t"/>
          <a:lstStyle/>
          <a:p>
            <a:pPr marL="0" indent="0">
              <a:buNone/>
            </a:pPr>
            <a:r>
              <a:rPr lang="en-US" sz="1200" dirty="0">
                <a:solidFill>
                  <a:srgbClr val="F0FDF4"/>
                </a:solidFill>
              </a:rPr>
              <a:t>Every harvest season, millions of farmers face the same invisible crisis.</a:t>
            </a:r>
            <a:endParaRPr lang="en-US" sz="1200" dirty="0"/>
          </a:p>
          <a:p>
            <a:pPr marL="0" indent="0">
              <a:buNone/>
            </a:pPr>
            <a:r>
              <a:rPr lang="en-US" sz="1200" dirty="0">
                <a:solidFill>
                  <a:srgbClr val="000000"/>
                </a:solidFill>
              </a:rPr>
              <a:t> </a:t>
            </a:r>
            <a:endParaRPr lang="en-US" sz="1200" dirty="0"/>
          </a:p>
          <a:p>
            <a:pPr marL="0" indent="0">
              <a:buNone/>
            </a:pPr>
            <a:r>
              <a:rPr lang="en-US" sz="1100" dirty="0">
                <a:solidFill>
                  <a:srgbClr val="A7F3D0"/>
                </a:solidFill>
              </a:rPr>
              <a:t>When crops ripen, every farmer in a region sells at once — flooding the market. Prices collapse instantly.</a:t>
            </a:r>
            <a:endParaRPr lang="en-US" sz="1200" dirty="0"/>
          </a:p>
          <a:p>
            <a:pPr marL="0" indent="0">
              <a:buNone/>
            </a:pPr>
            <a:r>
              <a:rPr lang="en-US" sz="1200" dirty="0">
                <a:solidFill>
                  <a:srgbClr val="000000"/>
                </a:solidFill>
              </a:rPr>
              <a:t> </a:t>
            </a:r>
            <a:endParaRPr lang="en-US" sz="1200" dirty="0"/>
          </a:p>
          <a:p>
            <a:pPr marL="0" indent="0">
              <a:buNone/>
            </a:pPr>
            <a:r>
              <a:rPr lang="en-US" sz="1100" dirty="0">
                <a:solidFill>
                  <a:srgbClr val="A7F3D0"/>
                </a:solidFill>
              </a:rPr>
              <a:t>Middlemen (arhtiyas) step in — buying cheap at harvest and selling weeks later at 2–4× the price.</a:t>
            </a:r>
            <a:endParaRPr lang="en-US" sz="1200" dirty="0"/>
          </a:p>
          <a:p>
            <a:pPr marL="0" indent="0">
              <a:buNone/>
            </a:pPr>
            <a:r>
              <a:rPr lang="en-US" sz="1200" dirty="0">
                <a:solidFill>
                  <a:srgbClr val="000000"/>
                </a:solidFill>
              </a:rPr>
              <a:t> </a:t>
            </a:r>
            <a:endParaRPr lang="en-US" sz="1200" dirty="0"/>
          </a:p>
          <a:p>
            <a:pPr marL="0" indent="0">
              <a:buNone/>
            </a:pPr>
            <a:r>
              <a:rPr lang="en-US" sz="1200" b="1" dirty="0">
                <a:solidFill>
                  <a:srgbClr val="FCD34D"/>
                </a:solidFill>
              </a:rPr>
              <a:t>Real Example:</a:t>
            </a:r>
            <a:endParaRPr lang="en-US" sz="1200" dirty="0"/>
          </a:p>
          <a:p>
            <a:pPr marL="0" indent="0">
              <a:buNone/>
            </a:pPr>
            <a:r>
              <a:rPr lang="en-US" sz="1100" i="1" dirty="0">
                <a:solidFill>
                  <a:srgbClr val="F0FDF4"/>
                </a:solidFill>
              </a:rPr>
              <a:t>Nashik, October 2023 — Onions sold at ₹1/kg at harvest. The same onions sold for ₹40/kg in Delhi just three weeks later.</a:t>
            </a:r>
            <a:endParaRPr lang="en-US" sz="1200" dirty="0"/>
          </a:p>
          <a:p>
            <a:pPr marL="0" indent="0">
              <a:buNone/>
            </a:pPr>
            <a:r>
              <a:rPr lang="en-US" sz="1200" dirty="0">
                <a:solidFill>
                  <a:srgbClr val="000000"/>
                </a:solidFill>
              </a:rPr>
              <a:t> </a:t>
            </a:r>
            <a:endParaRPr lang="en-US" sz="1200" dirty="0"/>
          </a:p>
          <a:p>
            <a:pPr marL="0" indent="0">
              <a:buNone/>
            </a:pPr>
            <a:r>
              <a:rPr lang="en-US" sz="1200" b="1" dirty="0">
                <a:solidFill>
                  <a:srgbClr val="F59E0B"/>
                </a:solidFill>
              </a:rPr>
              <a:t>The farmer earned ₹1.  The middleman earned ₹40.</a:t>
            </a:r>
            <a:endParaRPr lang="en-US" sz="1200" dirty="0"/>
          </a:p>
        </p:txBody>
      </p:sp>
      <p:sp>
        <p:nvSpPr>
          <p:cNvPr id="8" name="Shape 6"/>
          <p:cNvSpPr/>
          <p:nvPr/>
        </p:nvSpPr>
        <p:spPr>
          <a:xfrm>
            <a:off x="5760720" y="1371600"/>
            <a:ext cx="6035040" cy="1417320"/>
          </a:xfrm>
          <a:prstGeom prst="rect">
            <a:avLst/>
          </a:prstGeom>
          <a:solidFill>
            <a:srgbClr val="FFFFFF"/>
          </a:solidFill>
          <a:ln/>
          <a:effectLst>
            <a:outerShdw blurRad="101600" dist="38100" dir="8100000" algn="bl" rotWithShape="0">
              <a:srgbClr val="000000">
                <a:alpha val="18000"/>
              </a:srgbClr>
            </a:outerShdw>
          </a:effectLst>
        </p:spPr>
      </p:sp>
      <p:sp>
        <p:nvSpPr>
          <p:cNvPr id="9" name="Shape 7"/>
          <p:cNvSpPr/>
          <p:nvPr/>
        </p:nvSpPr>
        <p:spPr>
          <a:xfrm>
            <a:off x="5760720" y="1371600"/>
            <a:ext cx="54864" cy="1417320"/>
          </a:xfrm>
          <a:prstGeom prst="rect">
            <a:avLst/>
          </a:prstGeom>
          <a:solidFill>
            <a:srgbClr val="EF4444"/>
          </a:solidFill>
          <a:ln/>
        </p:spPr>
      </p:sp>
      <p:sp>
        <p:nvSpPr>
          <p:cNvPr id="10" name="Text 8"/>
          <p:cNvSpPr/>
          <p:nvPr/>
        </p:nvSpPr>
        <p:spPr>
          <a:xfrm>
            <a:off x="5943600" y="1463040"/>
            <a:ext cx="5669280" cy="347472"/>
          </a:xfrm>
          <a:prstGeom prst="rect">
            <a:avLst/>
          </a:prstGeom>
          <a:noFill/>
          <a:ln/>
        </p:spPr>
        <p:txBody>
          <a:bodyPr wrap="square" rtlCol="0" anchor="ctr"/>
          <a:lstStyle/>
          <a:p>
            <a:pPr marL="0" indent="0">
              <a:buNone/>
            </a:pPr>
            <a:r>
              <a:rPr lang="en-US" sz="1300" b="1" dirty="0">
                <a:solidFill>
                  <a:srgbClr val="0A2E1A"/>
                </a:solidFill>
              </a:rPr>
              <a:t>📉  Price Crash at Harvest</a:t>
            </a:r>
            <a:endParaRPr lang="en-US" sz="1300" dirty="0"/>
          </a:p>
        </p:txBody>
      </p:sp>
      <p:sp>
        <p:nvSpPr>
          <p:cNvPr id="11" name="Text 9"/>
          <p:cNvSpPr/>
          <p:nvPr/>
        </p:nvSpPr>
        <p:spPr>
          <a:xfrm>
            <a:off x="5943600" y="1810512"/>
            <a:ext cx="5669280" cy="868680"/>
          </a:xfrm>
          <a:prstGeom prst="rect">
            <a:avLst/>
          </a:prstGeom>
          <a:noFill/>
          <a:ln/>
        </p:spPr>
        <p:txBody>
          <a:bodyPr wrap="square" rtlCol="0" anchor="ctr"/>
          <a:lstStyle/>
          <a:p>
            <a:pPr marL="0" indent="0">
              <a:buNone/>
            </a:pPr>
            <a:r>
              <a:rPr lang="en-US" sz="1100" dirty="0">
                <a:solidFill>
                  <a:srgbClr val="374151"/>
                </a:solidFill>
              </a:rPr>
              <a:t>All farmers sell simultaneously, flooding the market. Prices hit rock bottom exactly when supply is highest.</a:t>
            </a:r>
            <a:endParaRPr lang="en-US" sz="1100" dirty="0"/>
          </a:p>
        </p:txBody>
      </p:sp>
      <p:sp>
        <p:nvSpPr>
          <p:cNvPr id="12" name="Shape 10"/>
          <p:cNvSpPr/>
          <p:nvPr/>
        </p:nvSpPr>
        <p:spPr>
          <a:xfrm>
            <a:off x="5760720" y="2971800"/>
            <a:ext cx="6035040" cy="1417320"/>
          </a:xfrm>
          <a:prstGeom prst="rect">
            <a:avLst/>
          </a:prstGeom>
          <a:solidFill>
            <a:srgbClr val="FFFFFF"/>
          </a:solidFill>
          <a:ln/>
          <a:effectLst>
            <a:outerShdw blurRad="101600" dist="38100" dir="8100000" algn="bl" rotWithShape="0">
              <a:srgbClr val="000000">
                <a:alpha val="18000"/>
              </a:srgbClr>
            </a:outerShdw>
          </a:effectLst>
        </p:spPr>
      </p:sp>
      <p:sp>
        <p:nvSpPr>
          <p:cNvPr id="13" name="Shape 11"/>
          <p:cNvSpPr/>
          <p:nvPr/>
        </p:nvSpPr>
        <p:spPr>
          <a:xfrm>
            <a:off x="5760720" y="2971800"/>
            <a:ext cx="54864" cy="1417320"/>
          </a:xfrm>
          <a:prstGeom prst="rect">
            <a:avLst/>
          </a:prstGeom>
          <a:solidFill>
            <a:srgbClr val="EF4444"/>
          </a:solidFill>
          <a:ln/>
        </p:spPr>
      </p:sp>
      <p:sp>
        <p:nvSpPr>
          <p:cNvPr id="14" name="Text 12"/>
          <p:cNvSpPr/>
          <p:nvPr/>
        </p:nvSpPr>
        <p:spPr>
          <a:xfrm>
            <a:off x="5943600" y="3063240"/>
            <a:ext cx="5669280" cy="347472"/>
          </a:xfrm>
          <a:prstGeom prst="rect">
            <a:avLst/>
          </a:prstGeom>
          <a:noFill/>
          <a:ln/>
        </p:spPr>
        <p:txBody>
          <a:bodyPr wrap="square" rtlCol="0" anchor="ctr"/>
          <a:lstStyle/>
          <a:p>
            <a:pPr marL="0" indent="0">
              <a:buNone/>
            </a:pPr>
            <a:r>
              <a:rPr lang="en-US" sz="1300" b="1" dirty="0">
                <a:solidFill>
                  <a:srgbClr val="0A2E1A"/>
                </a:solidFill>
              </a:rPr>
              <a:t>🏦  Zero Forecasting Tools</a:t>
            </a:r>
            <a:endParaRPr lang="en-US" sz="1300" dirty="0"/>
          </a:p>
        </p:txBody>
      </p:sp>
      <p:sp>
        <p:nvSpPr>
          <p:cNvPr id="15" name="Text 13"/>
          <p:cNvSpPr/>
          <p:nvPr/>
        </p:nvSpPr>
        <p:spPr>
          <a:xfrm>
            <a:off x="5943600" y="3410712"/>
            <a:ext cx="5669280" cy="868680"/>
          </a:xfrm>
          <a:prstGeom prst="rect">
            <a:avLst/>
          </a:prstGeom>
          <a:noFill/>
          <a:ln/>
        </p:spPr>
        <p:txBody>
          <a:bodyPr wrap="square" rtlCol="0" anchor="ctr"/>
          <a:lstStyle/>
          <a:p>
            <a:pPr marL="0" indent="0">
              <a:buNone/>
            </a:pPr>
            <a:r>
              <a:rPr lang="en-US" sz="1100" dirty="0">
                <a:solidFill>
                  <a:srgbClr val="374151"/>
                </a:solidFill>
              </a:rPr>
              <a:t>No accessible, farmer-friendly price prediction tool exists. Farmers make critical selling decisions with zero data.</a:t>
            </a:r>
            <a:endParaRPr lang="en-US" sz="1100" dirty="0"/>
          </a:p>
        </p:txBody>
      </p:sp>
      <p:sp>
        <p:nvSpPr>
          <p:cNvPr id="16" name="Shape 14"/>
          <p:cNvSpPr/>
          <p:nvPr/>
        </p:nvSpPr>
        <p:spPr>
          <a:xfrm>
            <a:off x="5760720" y="4572000"/>
            <a:ext cx="6035040" cy="1417320"/>
          </a:xfrm>
          <a:prstGeom prst="rect">
            <a:avLst/>
          </a:prstGeom>
          <a:solidFill>
            <a:srgbClr val="FFFFFF"/>
          </a:solidFill>
          <a:ln/>
          <a:effectLst>
            <a:outerShdw blurRad="101600" dist="38100" dir="8100000" algn="bl" rotWithShape="0">
              <a:srgbClr val="000000">
                <a:alpha val="18000"/>
              </a:srgbClr>
            </a:outerShdw>
          </a:effectLst>
        </p:spPr>
      </p:sp>
      <p:sp>
        <p:nvSpPr>
          <p:cNvPr id="17" name="Shape 15"/>
          <p:cNvSpPr/>
          <p:nvPr/>
        </p:nvSpPr>
        <p:spPr>
          <a:xfrm>
            <a:off x="5760720" y="4572000"/>
            <a:ext cx="54864" cy="1417320"/>
          </a:xfrm>
          <a:prstGeom prst="rect">
            <a:avLst/>
          </a:prstGeom>
          <a:solidFill>
            <a:srgbClr val="EF4444"/>
          </a:solidFill>
          <a:ln/>
        </p:spPr>
      </p:sp>
      <p:sp>
        <p:nvSpPr>
          <p:cNvPr id="18" name="Text 16"/>
          <p:cNvSpPr/>
          <p:nvPr/>
        </p:nvSpPr>
        <p:spPr>
          <a:xfrm>
            <a:off x="5943600" y="4663440"/>
            <a:ext cx="5669280" cy="347472"/>
          </a:xfrm>
          <a:prstGeom prst="rect">
            <a:avLst/>
          </a:prstGeom>
          <a:noFill/>
          <a:ln/>
        </p:spPr>
        <p:txBody>
          <a:bodyPr wrap="square" rtlCol="0" anchor="ctr"/>
          <a:lstStyle/>
          <a:p>
            <a:pPr marL="0" indent="0">
              <a:buNone/>
            </a:pPr>
            <a:r>
              <a:rPr lang="en-US" sz="1300" b="1" dirty="0">
                <a:solidFill>
                  <a:srgbClr val="0A2E1A"/>
                </a:solidFill>
              </a:rPr>
              <a:t>💸  Middleman Information Gap</a:t>
            </a:r>
            <a:endParaRPr lang="en-US" sz="1300" dirty="0"/>
          </a:p>
        </p:txBody>
      </p:sp>
      <p:sp>
        <p:nvSpPr>
          <p:cNvPr id="19" name="Text 17"/>
          <p:cNvSpPr/>
          <p:nvPr/>
        </p:nvSpPr>
        <p:spPr>
          <a:xfrm>
            <a:off x="5943600" y="5010912"/>
            <a:ext cx="5669280" cy="868680"/>
          </a:xfrm>
          <a:prstGeom prst="rect">
            <a:avLst/>
          </a:prstGeom>
          <a:noFill/>
          <a:ln/>
        </p:spPr>
        <p:txBody>
          <a:bodyPr wrap="square" rtlCol="0" anchor="ctr"/>
          <a:lstStyle/>
          <a:p>
            <a:pPr marL="0" indent="0">
              <a:buNone/>
            </a:pPr>
            <a:r>
              <a:rPr lang="en-US" sz="1100" dirty="0">
                <a:solidFill>
                  <a:srgbClr val="374151"/>
                </a:solidFill>
              </a:rPr>
              <a:t>Middlemen use market intelligence to buy low and sell high. Farmers have no equivalent advantage to counter this.</a:t>
            </a:r>
            <a:endParaRPr lang="en-US" sz="1100" dirty="0"/>
          </a:p>
        </p:txBody>
      </p:sp>
      <p:sp>
        <p:nvSpPr>
          <p:cNvPr id="20" name="Shape 18"/>
          <p:cNvSpPr/>
          <p:nvPr/>
        </p:nvSpPr>
        <p:spPr>
          <a:xfrm>
            <a:off x="5760720" y="6172200"/>
            <a:ext cx="6035040" cy="502920"/>
          </a:xfrm>
          <a:prstGeom prst="rect">
            <a:avLst/>
          </a:prstGeom>
          <a:solidFill>
            <a:srgbClr val="F59E0B"/>
          </a:solidFill>
          <a:ln/>
        </p:spPr>
      </p:sp>
      <p:sp>
        <p:nvSpPr>
          <p:cNvPr id="21" name="Shape 19"/>
          <p:cNvSpPr/>
          <p:nvPr/>
        </p:nvSpPr>
        <p:spPr>
          <a:xfrm>
            <a:off x="365760" y="6035040"/>
            <a:ext cx="11430000" cy="502920"/>
          </a:xfrm>
          <a:prstGeom prst="rect">
            <a:avLst/>
          </a:prstGeom>
          <a:solidFill>
            <a:srgbClr val="F59E0B"/>
          </a:solidFill>
          <a:ln/>
          <a:effectLst>
            <a:outerShdw blurRad="101600" dist="38100" dir="8100000" algn="bl" rotWithShape="0">
              <a:srgbClr val="000000">
                <a:alpha val="18000"/>
              </a:srgbClr>
            </a:outerShdw>
          </a:effectLst>
        </p:spPr>
      </p:sp>
      <p:sp>
        <p:nvSpPr>
          <p:cNvPr id="22" name="Text 20"/>
          <p:cNvSpPr/>
          <p:nvPr/>
        </p:nvSpPr>
        <p:spPr>
          <a:xfrm>
            <a:off x="365760" y="6035040"/>
            <a:ext cx="11430000" cy="502920"/>
          </a:xfrm>
          <a:prstGeom prst="rect">
            <a:avLst/>
          </a:prstGeom>
          <a:noFill/>
          <a:ln/>
        </p:spPr>
        <p:txBody>
          <a:bodyPr wrap="square" rtlCol="0" anchor="ctr"/>
          <a:lstStyle/>
          <a:p>
            <a:pPr marL="0" indent="0" algn="ctr">
              <a:buNone/>
            </a:pPr>
            <a:r>
              <a:rPr lang="en-US" sz="1200" b="1" dirty="0">
                <a:solidFill>
                  <a:srgbClr val="0A2E1A"/>
                </a:solidFill>
              </a:rPr>
              <a:t>150M+ farmer families in India  ·  ₹15,000–40,000 average income lost per season to poor market timing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E1A"/>
        </a:solidFill>
        <a:effectLst/>
      </p:bgPr>
    </p:bg>
    <p:spTree>
      <p:nvGrpSpPr>
        <p:cNvPr id="1" name=""/>
        <p:cNvGrpSpPr/>
        <p:nvPr/>
      </p:nvGrpSpPr>
      <p:grpSpPr>
        <a:xfrm>
          <a:off x="0" y="0"/>
          <a:ext cx="0" cy="0"/>
          <a:chOff x="0" y="0"/>
          <a:chExt cx="0" cy="0"/>
        </a:xfrm>
      </p:grpSpPr>
      <p:sp>
        <p:nvSpPr>
          <p:cNvPr id="2" name="Shape 0"/>
          <p:cNvSpPr/>
          <p:nvPr/>
        </p:nvSpPr>
        <p:spPr>
          <a:xfrm>
            <a:off x="365760" y="228600"/>
            <a:ext cx="2011680" cy="347472"/>
          </a:xfrm>
          <a:prstGeom prst="roundRect">
            <a:avLst>
              <a:gd name="adj" fmla="val 13158"/>
            </a:avLst>
          </a:prstGeom>
          <a:solidFill>
            <a:srgbClr val="166534"/>
          </a:solidFill>
          <a:ln/>
          <a:effectLst>
            <a:outerShdw blurRad="101600" dist="38100" dir="8100000" algn="bl" rotWithShape="0">
              <a:srgbClr val="000000">
                <a:alpha val="18000"/>
              </a:srgbClr>
            </a:outerShdw>
          </a:effectLst>
        </p:spPr>
      </p:sp>
      <p:sp>
        <p:nvSpPr>
          <p:cNvPr id="3" name="Text 1"/>
          <p:cNvSpPr/>
          <p:nvPr/>
        </p:nvSpPr>
        <p:spPr>
          <a:xfrm>
            <a:off x="365760" y="228600"/>
            <a:ext cx="2011680" cy="347472"/>
          </a:xfrm>
          <a:prstGeom prst="rect">
            <a:avLst/>
          </a:prstGeom>
          <a:noFill/>
          <a:ln/>
        </p:spPr>
        <p:txBody>
          <a:bodyPr wrap="square" rtlCol="0" anchor="ctr"/>
          <a:lstStyle/>
          <a:p>
            <a:pPr marL="0" indent="0" algn="ctr">
              <a:buNone/>
            </a:pPr>
            <a:r>
              <a:rPr lang="en-US" sz="1000" b="1" dirty="0">
                <a:solidFill>
                  <a:srgbClr val="FFFFFF"/>
                </a:solidFill>
              </a:rPr>
              <a:t>02  WHY WE CHOSE THIS</a:t>
            </a:r>
            <a:endParaRPr lang="en-US" sz="1000" dirty="0"/>
          </a:p>
        </p:txBody>
      </p:sp>
      <p:sp>
        <p:nvSpPr>
          <p:cNvPr id="4" name="Text 2"/>
          <p:cNvSpPr/>
          <p:nvPr/>
        </p:nvSpPr>
        <p:spPr>
          <a:xfrm>
            <a:off x="365760" y="640080"/>
            <a:ext cx="11430000" cy="594360"/>
          </a:xfrm>
          <a:prstGeom prst="rect">
            <a:avLst/>
          </a:prstGeom>
          <a:noFill/>
          <a:ln/>
        </p:spPr>
        <p:txBody>
          <a:bodyPr wrap="square" rtlCol="0" anchor="ctr"/>
          <a:lstStyle/>
          <a:p>
            <a:pPr marL="0" indent="0">
              <a:buNone/>
            </a:pPr>
            <a:r>
              <a:rPr lang="en-US" sz="2600" b="1" dirty="0">
                <a:solidFill>
                  <a:srgbClr val="F59E0B"/>
                </a:solidFill>
                <a:latin typeface="Georgia" pitchFamily="34" charset="0"/>
                <a:ea typeface="Georgia" pitchFamily="34" charset="-122"/>
                <a:cs typeface="Georgia" pitchFamily="34" charset="-120"/>
              </a:rPr>
              <a:t>A Problem That Demands a Solution</a:t>
            </a:r>
            <a:endParaRPr lang="en-US" sz="2600" dirty="0"/>
          </a:p>
        </p:txBody>
      </p:sp>
      <p:sp>
        <p:nvSpPr>
          <p:cNvPr id="5" name="Shape 3"/>
          <p:cNvSpPr/>
          <p:nvPr/>
        </p:nvSpPr>
        <p:spPr>
          <a:xfrm>
            <a:off x="365760" y="1417320"/>
            <a:ext cx="3657600" cy="2011680"/>
          </a:xfrm>
          <a:prstGeom prst="rect">
            <a:avLst/>
          </a:prstGeom>
          <a:solidFill>
            <a:srgbClr val="14532D"/>
          </a:solidFill>
          <a:ln/>
          <a:effectLst>
            <a:outerShdw blurRad="101600" dist="38100" dir="8100000" algn="bl" rotWithShape="0">
              <a:srgbClr val="000000">
                <a:alpha val="18000"/>
              </a:srgbClr>
            </a:outerShdw>
          </a:effectLst>
        </p:spPr>
      </p:sp>
      <p:sp>
        <p:nvSpPr>
          <p:cNvPr id="6" name="Shape 4"/>
          <p:cNvSpPr/>
          <p:nvPr/>
        </p:nvSpPr>
        <p:spPr>
          <a:xfrm>
            <a:off x="365760" y="1417320"/>
            <a:ext cx="3657600" cy="54864"/>
          </a:xfrm>
          <a:prstGeom prst="rect">
            <a:avLst/>
          </a:prstGeom>
          <a:solidFill>
            <a:srgbClr val="F59E0B"/>
          </a:solidFill>
          <a:ln/>
        </p:spPr>
      </p:sp>
      <p:sp>
        <p:nvSpPr>
          <p:cNvPr id="7" name="Text 5"/>
          <p:cNvSpPr/>
          <p:nvPr/>
        </p:nvSpPr>
        <p:spPr>
          <a:xfrm>
            <a:off x="365760" y="1554480"/>
            <a:ext cx="3657600" cy="5029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8" name="Text 6"/>
          <p:cNvSpPr/>
          <p:nvPr/>
        </p:nvSpPr>
        <p:spPr>
          <a:xfrm>
            <a:off x="502920" y="2075688"/>
            <a:ext cx="3383280" cy="365760"/>
          </a:xfrm>
          <a:prstGeom prst="rect">
            <a:avLst/>
          </a:prstGeom>
          <a:noFill/>
          <a:ln/>
        </p:spPr>
        <p:txBody>
          <a:bodyPr wrap="square" rtlCol="0" anchor="ctr"/>
          <a:lstStyle/>
          <a:p>
            <a:pPr marL="0" indent="0">
              <a:buNone/>
            </a:pPr>
            <a:r>
              <a:rPr lang="en-US" sz="1300" b="1" dirty="0">
                <a:solidFill>
                  <a:srgbClr val="FCD34D"/>
                </a:solidFill>
              </a:rPr>
              <a:t>Scale of Impact</a:t>
            </a:r>
            <a:endParaRPr lang="en-US" sz="1300" dirty="0"/>
          </a:p>
        </p:txBody>
      </p:sp>
      <p:sp>
        <p:nvSpPr>
          <p:cNvPr id="9" name="Text 7"/>
          <p:cNvSpPr/>
          <p:nvPr/>
        </p:nvSpPr>
        <p:spPr>
          <a:xfrm>
            <a:off x="502920" y="2441448"/>
            <a:ext cx="3383280" cy="914400"/>
          </a:xfrm>
          <a:prstGeom prst="rect">
            <a:avLst/>
          </a:prstGeom>
          <a:noFill/>
          <a:ln/>
        </p:spPr>
        <p:txBody>
          <a:bodyPr wrap="square" rtlCol="0" anchor="ctr"/>
          <a:lstStyle/>
          <a:p>
            <a:pPr marL="0" indent="0">
              <a:buNone/>
            </a:pPr>
            <a:r>
              <a:rPr lang="en-US" sz="1050" dirty="0">
                <a:solidFill>
                  <a:srgbClr val="A7F3D0"/>
                </a:solidFill>
              </a:rPr>
              <a:t>Agriculture employs 42% of India's workforce. A solution here creates ripple effects across the entire rural economy.</a:t>
            </a:r>
            <a:endParaRPr lang="en-US" sz="1050" dirty="0"/>
          </a:p>
        </p:txBody>
      </p:sp>
      <p:sp>
        <p:nvSpPr>
          <p:cNvPr id="10" name="Shape 8"/>
          <p:cNvSpPr/>
          <p:nvPr/>
        </p:nvSpPr>
        <p:spPr>
          <a:xfrm>
            <a:off x="4297680" y="1417320"/>
            <a:ext cx="3657600" cy="2011680"/>
          </a:xfrm>
          <a:prstGeom prst="rect">
            <a:avLst/>
          </a:prstGeom>
          <a:solidFill>
            <a:srgbClr val="14532D"/>
          </a:solidFill>
          <a:ln/>
          <a:effectLst>
            <a:outerShdw blurRad="101600" dist="38100" dir="8100000" algn="bl" rotWithShape="0">
              <a:srgbClr val="000000">
                <a:alpha val="18000"/>
              </a:srgbClr>
            </a:outerShdw>
          </a:effectLst>
        </p:spPr>
      </p:sp>
      <p:sp>
        <p:nvSpPr>
          <p:cNvPr id="11" name="Shape 9"/>
          <p:cNvSpPr/>
          <p:nvPr/>
        </p:nvSpPr>
        <p:spPr>
          <a:xfrm>
            <a:off x="4297680" y="1417320"/>
            <a:ext cx="3657600" cy="54864"/>
          </a:xfrm>
          <a:prstGeom prst="rect">
            <a:avLst/>
          </a:prstGeom>
          <a:solidFill>
            <a:srgbClr val="F59E0B"/>
          </a:solidFill>
          <a:ln/>
        </p:spPr>
      </p:sp>
      <p:sp>
        <p:nvSpPr>
          <p:cNvPr id="12" name="Text 10"/>
          <p:cNvSpPr/>
          <p:nvPr/>
        </p:nvSpPr>
        <p:spPr>
          <a:xfrm>
            <a:off x="4297680" y="1554480"/>
            <a:ext cx="3657600" cy="5029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3" name="Text 11"/>
          <p:cNvSpPr/>
          <p:nvPr/>
        </p:nvSpPr>
        <p:spPr>
          <a:xfrm>
            <a:off x="4434840" y="2075688"/>
            <a:ext cx="3383280" cy="365760"/>
          </a:xfrm>
          <a:prstGeom prst="rect">
            <a:avLst/>
          </a:prstGeom>
          <a:noFill/>
          <a:ln/>
        </p:spPr>
        <p:txBody>
          <a:bodyPr wrap="square" rtlCol="0" anchor="ctr"/>
          <a:lstStyle/>
          <a:p>
            <a:pPr marL="0" indent="0">
              <a:buNone/>
            </a:pPr>
            <a:r>
              <a:rPr lang="en-US" sz="1300" b="1" dirty="0">
                <a:solidFill>
                  <a:srgbClr val="FCD34D"/>
                </a:solidFill>
              </a:rPr>
              <a:t>Solvable with AI/ML</a:t>
            </a:r>
            <a:endParaRPr lang="en-US" sz="1300" dirty="0"/>
          </a:p>
        </p:txBody>
      </p:sp>
      <p:sp>
        <p:nvSpPr>
          <p:cNvPr id="14" name="Text 12"/>
          <p:cNvSpPr/>
          <p:nvPr/>
        </p:nvSpPr>
        <p:spPr>
          <a:xfrm>
            <a:off x="4434840" y="2441448"/>
            <a:ext cx="3383280" cy="914400"/>
          </a:xfrm>
          <a:prstGeom prst="rect">
            <a:avLst/>
          </a:prstGeom>
          <a:noFill/>
          <a:ln/>
        </p:spPr>
        <p:txBody>
          <a:bodyPr wrap="square" rtlCol="0" anchor="ctr"/>
          <a:lstStyle/>
          <a:p>
            <a:pPr marL="0" indent="0">
              <a:buNone/>
            </a:pPr>
            <a:r>
              <a:rPr lang="en-US" sz="1050" dirty="0">
                <a:solidFill>
                  <a:srgbClr val="A7F3D0"/>
                </a:solidFill>
              </a:rPr>
              <a:t>Crop price patterns are seasonal, cyclical, and data-rich — a perfect ML problem. We had the skills to actually build this.</a:t>
            </a:r>
            <a:endParaRPr lang="en-US" sz="1050" dirty="0"/>
          </a:p>
        </p:txBody>
      </p:sp>
      <p:sp>
        <p:nvSpPr>
          <p:cNvPr id="15" name="Shape 13"/>
          <p:cNvSpPr/>
          <p:nvPr/>
        </p:nvSpPr>
        <p:spPr>
          <a:xfrm>
            <a:off x="8229600" y="1417320"/>
            <a:ext cx="3657600" cy="2011680"/>
          </a:xfrm>
          <a:prstGeom prst="rect">
            <a:avLst/>
          </a:prstGeom>
          <a:solidFill>
            <a:srgbClr val="14532D"/>
          </a:solidFill>
          <a:ln/>
          <a:effectLst>
            <a:outerShdw blurRad="101600" dist="38100" dir="8100000" algn="bl" rotWithShape="0">
              <a:srgbClr val="000000">
                <a:alpha val="18000"/>
              </a:srgbClr>
            </a:outerShdw>
          </a:effectLst>
        </p:spPr>
      </p:sp>
      <p:sp>
        <p:nvSpPr>
          <p:cNvPr id="16" name="Shape 14"/>
          <p:cNvSpPr/>
          <p:nvPr/>
        </p:nvSpPr>
        <p:spPr>
          <a:xfrm>
            <a:off x="8229600" y="1417320"/>
            <a:ext cx="3657600" cy="54864"/>
          </a:xfrm>
          <a:prstGeom prst="rect">
            <a:avLst/>
          </a:prstGeom>
          <a:solidFill>
            <a:srgbClr val="F59E0B"/>
          </a:solidFill>
          <a:ln/>
        </p:spPr>
      </p:sp>
      <p:sp>
        <p:nvSpPr>
          <p:cNvPr id="17" name="Text 15"/>
          <p:cNvSpPr/>
          <p:nvPr/>
        </p:nvSpPr>
        <p:spPr>
          <a:xfrm>
            <a:off x="8229600" y="1554480"/>
            <a:ext cx="3657600" cy="5029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8" name="Text 16"/>
          <p:cNvSpPr/>
          <p:nvPr/>
        </p:nvSpPr>
        <p:spPr>
          <a:xfrm>
            <a:off x="8366760" y="2075688"/>
            <a:ext cx="3383280" cy="365760"/>
          </a:xfrm>
          <a:prstGeom prst="rect">
            <a:avLst/>
          </a:prstGeom>
          <a:noFill/>
          <a:ln/>
        </p:spPr>
        <p:txBody>
          <a:bodyPr wrap="square" rtlCol="0" anchor="ctr"/>
          <a:lstStyle/>
          <a:p>
            <a:pPr marL="0" indent="0">
              <a:buNone/>
            </a:pPr>
            <a:r>
              <a:rPr lang="en-US" sz="1300" b="1" dirty="0">
                <a:solidFill>
                  <a:srgbClr val="FCD34D"/>
                </a:solidFill>
              </a:rPr>
              <a:t>Free Public Data Exists</a:t>
            </a:r>
            <a:endParaRPr lang="en-US" sz="1300" dirty="0"/>
          </a:p>
        </p:txBody>
      </p:sp>
      <p:sp>
        <p:nvSpPr>
          <p:cNvPr id="19" name="Text 17"/>
          <p:cNvSpPr/>
          <p:nvPr/>
        </p:nvSpPr>
        <p:spPr>
          <a:xfrm>
            <a:off x="8366760" y="2441448"/>
            <a:ext cx="3383280" cy="914400"/>
          </a:xfrm>
          <a:prstGeom prst="rect">
            <a:avLst/>
          </a:prstGeom>
          <a:noFill/>
          <a:ln/>
        </p:spPr>
        <p:txBody>
          <a:bodyPr wrap="square" rtlCol="0" anchor="ctr"/>
          <a:lstStyle/>
          <a:p>
            <a:pPr marL="0" indent="0">
              <a:buNone/>
            </a:pPr>
            <a:r>
              <a:rPr lang="en-US" sz="1050" dirty="0">
                <a:solidFill>
                  <a:srgbClr val="A7F3D0"/>
                </a:solidFill>
              </a:rPr>
              <a:t>The Government of India's Agmarknet platform publicly provides daily mandi prices across 3,000+ markets — ready to use.</a:t>
            </a:r>
            <a:endParaRPr lang="en-US" sz="1050" dirty="0"/>
          </a:p>
        </p:txBody>
      </p:sp>
      <p:sp>
        <p:nvSpPr>
          <p:cNvPr id="20" name="Shape 18"/>
          <p:cNvSpPr/>
          <p:nvPr/>
        </p:nvSpPr>
        <p:spPr>
          <a:xfrm>
            <a:off x="365760" y="3703320"/>
            <a:ext cx="3657600" cy="2011680"/>
          </a:xfrm>
          <a:prstGeom prst="rect">
            <a:avLst/>
          </a:prstGeom>
          <a:solidFill>
            <a:srgbClr val="14532D"/>
          </a:solidFill>
          <a:ln/>
          <a:effectLst>
            <a:outerShdw blurRad="101600" dist="38100" dir="8100000" algn="bl" rotWithShape="0">
              <a:srgbClr val="000000">
                <a:alpha val="18000"/>
              </a:srgbClr>
            </a:outerShdw>
          </a:effectLst>
        </p:spPr>
      </p:sp>
      <p:sp>
        <p:nvSpPr>
          <p:cNvPr id="21" name="Shape 19"/>
          <p:cNvSpPr/>
          <p:nvPr/>
        </p:nvSpPr>
        <p:spPr>
          <a:xfrm>
            <a:off x="365760" y="3703320"/>
            <a:ext cx="3657600" cy="54864"/>
          </a:xfrm>
          <a:prstGeom prst="rect">
            <a:avLst/>
          </a:prstGeom>
          <a:solidFill>
            <a:srgbClr val="F59E0B"/>
          </a:solidFill>
          <a:ln/>
        </p:spPr>
      </p:sp>
      <p:sp>
        <p:nvSpPr>
          <p:cNvPr id="22" name="Text 20"/>
          <p:cNvSpPr/>
          <p:nvPr/>
        </p:nvSpPr>
        <p:spPr>
          <a:xfrm>
            <a:off x="365760" y="3840480"/>
            <a:ext cx="3657600" cy="5029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3" name="Text 21"/>
          <p:cNvSpPr/>
          <p:nvPr/>
        </p:nvSpPr>
        <p:spPr>
          <a:xfrm>
            <a:off x="502920" y="4361688"/>
            <a:ext cx="3383280" cy="365760"/>
          </a:xfrm>
          <a:prstGeom prst="rect">
            <a:avLst/>
          </a:prstGeom>
          <a:noFill/>
          <a:ln/>
        </p:spPr>
        <p:txBody>
          <a:bodyPr wrap="square" rtlCol="0" anchor="ctr"/>
          <a:lstStyle/>
          <a:p>
            <a:pPr marL="0" indent="0">
              <a:buNone/>
            </a:pPr>
            <a:r>
              <a:rPr lang="en-US" sz="1300" b="1" dirty="0">
                <a:solidFill>
                  <a:srgbClr val="FCD34D"/>
                </a:solidFill>
              </a:rPr>
              <a:t>Real Human Need</a:t>
            </a:r>
            <a:endParaRPr lang="en-US" sz="1300" dirty="0"/>
          </a:p>
        </p:txBody>
      </p:sp>
      <p:sp>
        <p:nvSpPr>
          <p:cNvPr id="24" name="Text 22"/>
          <p:cNvSpPr/>
          <p:nvPr/>
        </p:nvSpPr>
        <p:spPr>
          <a:xfrm>
            <a:off x="502920" y="4727448"/>
            <a:ext cx="3383280" cy="914400"/>
          </a:xfrm>
          <a:prstGeom prst="rect">
            <a:avLst/>
          </a:prstGeom>
          <a:noFill/>
          <a:ln/>
        </p:spPr>
        <p:txBody>
          <a:bodyPr wrap="square" rtlCol="0" anchor="ctr"/>
          <a:lstStyle/>
          <a:p>
            <a:pPr marL="0" indent="0">
              <a:buNone/>
            </a:pPr>
            <a:r>
              <a:rPr lang="en-US" sz="1050" dirty="0">
                <a:solidFill>
                  <a:srgbClr val="A7F3D0"/>
                </a:solidFill>
              </a:rPr>
              <a:t>This isn't a hypothetical problem. Farmer debt, distress selling, and middleman exploitation are daily news in India.</a:t>
            </a:r>
            <a:endParaRPr lang="en-US" sz="1050" dirty="0"/>
          </a:p>
        </p:txBody>
      </p:sp>
      <p:sp>
        <p:nvSpPr>
          <p:cNvPr id="25" name="Shape 23"/>
          <p:cNvSpPr/>
          <p:nvPr/>
        </p:nvSpPr>
        <p:spPr>
          <a:xfrm>
            <a:off x="4297680" y="3703320"/>
            <a:ext cx="3657600" cy="2011680"/>
          </a:xfrm>
          <a:prstGeom prst="rect">
            <a:avLst/>
          </a:prstGeom>
          <a:solidFill>
            <a:srgbClr val="14532D"/>
          </a:solidFill>
          <a:ln/>
          <a:effectLst>
            <a:outerShdw blurRad="101600" dist="38100" dir="8100000" algn="bl" rotWithShape="0">
              <a:srgbClr val="000000">
                <a:alpha val="18000"/>
              </a:srgbClr>
            </a:outerShdw>
          </a:effectLst>
        </p:spPr>
      </p:sp>
      <p:sp>
        <p:nvSpPr>
          <p:cNvPr id="26" name="Shape 24"/>
          <p:cNvSpPr/>
          <p:nvPr/>
        </p:nvSpPr>
        <p:spPr>
          <a:xfrm>
            <a:off x="4297680" y="3703320"/>
            <a:ext cx="3657600" cy="54864"/>
          </a:xfrm>
          <a:prstGeom prst="rect">
            <a:avLst/>
          </a:prstGeom>
          <a:solidFill>
            <a:srgbClr val="F59E0B"/>
          </a:solidFill>
          <a:ln/>
        </p:spPr>
      </p:sp>
      <p:sp>
        <p:nvSpPr>
          <p:cNvPr id="27" name="Text 25"/>
          <p:cNvSpPr/>
          <p:nvPr/>
        </p:nvSpPr>
        <p:spPr>
          <a:xfrm>
            <a:off x="4297680" y="3840480"/>
            <a:ext cx="3657600" cy="5029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8" name="Text 26"/>
          <p:cNvSpPr/>
          <p:nvPr/>
        </p:nvSpPr>
        <p:spPr>
          <a:xfrm>
            <a:off x="4434840" y="4361688"/>
            <a:ext cx="3383280" cy="365760"/>
          </a:xfrm>
          <a:prstGeom prst="rect">
            <a:avLst/>
          </a:prstGeom>
          <a:noFill/>
          <a:ln/>
        </p:spPr>
        <p:txBody>
          <a:bodyPr wrap="square" rtlCol="0" anchor="ctr"/>
          <a:lstStyle/>
          <a:p>
            <a:pPr marL="0" indent="0">
              <a:buNone/>
            </a:pPr>
            <a:r>
              <a:rPr lang="en-US" sz="1300" b="1" dirty="0">
                <a:solidFill>
                  <a:srgbClr val="FCD34D"/>
                </a:solidFill>
              </a:rPr>
              <a:t>No Good Solution Exists</a:t>
            </a:r>
            <a:endParaRPr lang="en-US" sz="1300" dirty="0"/>
          </a:p>
        </p:txBody>
      </p:sp>
      <p:sp>
        <p:nvSpPr>
          <p:cNvPr id="29" name="Text 27"/>
          <p:cNvSpPr/>
          <p:nvPr/>
        </p:nvSpPr>
        <p:spPr>
          <a:xfrm>
            <a:off x="4434840" y="4727448"/>
            <a:ext cx="3383280" cy="914400"/>
          </a:xfrm>
          <a:prstGeom prst="rect">
            <a:avLst/>
          </a:prstGeom>
          <a:noFill/>
          <a:ln/>
        </p:spPr>
        <p:txBody>
          <a:bodyPr wrap="square" rtlCol="0" anchor="ctr"/>
          <a:lstStyle/>
          <a:p>
            <a:pPr marL="0" indent="0">
              <a:buNone/>
            </a:pPr>
            <a:r>
              <a:rPr lang="en-US" sz="1050" dirty="0">
                <a:solidFill>
                  <a:srgbClr val="A7F3D0"/>
                </a:solidFill>
              </a:rPr>
              <a:t>Existing agri-apps assume smartphone access and fail at the last mile. There is a genuine gap in the market.</a:t>
            </a:r>
            <a:endParaRPr lang="en-US" sz="1050" dirty="0"/>
          </a:p>
        </p:txBody>
      </p:sp>
      <p:sp>
        <p:nvSpPr>
          <p:cNvPr id="30" name="Shape 28"/>
          <p:cNvSpPr/>
          <p:nvPr/>
        </p:nvSpPr>
        <p:spPr>
          <a:xfrm>
            <a:off x="8229600" y="3703320"/>
            <a:ext cx="3657600" cy="2011680"/>
          </a:xfrm>
          <a:prstGeom prst="rect">
            <a:avLst/>
          </a:prstGeom>
          <a:solidFill>
            <a:srgbClr val="14532D"/>
          </a:solidFill>
          <a:ln/>
          <a:effectLst>
            <a:outerShdw blurRad="101600" dist="38100" dir="8100000" algn="bl" rotWithShape="0">
              <a:srgbClr val="000000">
                <a:alpha val="18000"/>
              </a:srgbClr>
            </a:outerShdw>
          </a:effectLst>
        </p:spPr>
      </p:sp>
      <p:sp>
        <p:nvSpPr>
          <p:cNvPr id="31" name="Shape 29"/>
          <p:cNvSpPr/>
          <p:nvPr/>
        </p:nvSpPr>
        <p:spPr>
          <a:xfrm>
            <a:off x="8229600" y="3703320"/>
            <a:ext cx="3657600" cy="54864"/>
          </a:xfrm>
          <a:prstGeom prst="rect">
            <a:avLst/>
          </a:prstGeom>
          <a:solidFill>
            <a:srgbClr val="F59E0B"/>
          </a:solidFill>
          <a:ln/>
        </p:spPr>
      </p:sp>
      <p:sp>
        <p:nvSpPr>
          <p:cNvPr id="32" name="Text 30"/>
          <p:cNvSpPr/>
          <p:nvPr/>
        </p:nvSpPr>
        <p:spPr>
          <a:xfrm>
            <a:off x="8229600" y="3840480"/>
            <a:ext cx="3657600" cy="5029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33" name="Text 31"/>
          <p:cNvSpPr/>
          <p:nvPr/>
        </p:nvSpPr>
        <p:spPr>
          <a:xfrm>
            <a:off x="8366760" y="4361688"/>
            <a:ext cx="3383280" cy="365760"/>
          </a:xfrm>
          <a:prstGeom prst="rect">
            <a:avLst/>
          </a:prstGeom>
          <a:noFill/>
          <a:ln/>
        </p:spPr>
        <p:txBody>
          <a:bodyPr wrap="square" rtlCol="0" anchor="ctr"/>
          <a:lstStyle/>
          <a:p>
            <a:pPr marL="0" indent="0">
              <a:buNone/>
            </a:pPr>
            <a:r>
              <a:rPr lang="en-US" sz="1300" b="1" dirty="0">
                <a:solidFill>
                  <a:srgbClr val="FCD34D"/>
                </a:solidFill>
              </a:rPr>
              <a:t>Accessible Technology</a:t>
            </a:r>
            <a:endParaRPr lang="en-US" sz="1300" dirty="0"/>
          </a:p>
        </p:txBody>
      </p:sp>
      <p:sp>
        <p:nvSpPr>
          <p:cNvPr id="34" name="Text 32"/>
          <p:cNvSpPr/>
          <p:nvPr/>
        </p:nvSpPr>
        <p:spPr>
          <a:xfrm>
            <a:off x="8366760" y="4727448"/>
            <a:ext cx="3383280" cy="914400"/>
          </a:xfrm>
          <a:prstGeom prst="rect">
            <a:avLst/>
          </a:prstGeom>
          <a:noFill/>
          <a:ln/>
        </p:spPr>
        <p:txBody>
          <a:bodyPr wrap="square" rtlCol="0" anchor="ctr"/>
          <a:lstStyle/>
          <a:p>
            <a:pPr marL="0" indent="0">
              <a:buNone/>
            </a:pPr>
            <a:r>
              <a:rPr lang="en-US" sz="1050" dirty="0">
                <a:solidFill>
                  <a:srgbClr val="A7F3D0"/>
                </a:solidFill>
              </a:rPr>
              <a:t>With SMS, IVR calls, and WhatsApp, we can reach farmers who have never used a smartphone — technology that already exists.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FF9"/>
        </a:solidFill>
        <a:effectLst/>
      </p:bgPr>
    </p:bg>
    <p:spTree>
      <p:nvGrpSpPr>
        <p:cNvPr id="1" name=""/>
        <p:cNvGrpSpPr/>
        <p:nvPr/>
      </p:nvGrpSpPr>
      <p:grpSpPr>
        <a:xfrm>
          <a:off x="0" y="0"/>
          <a:ext cx="0" cy="0"/>
          <a:chOff x="0" y="0"/>
          <a:chExt cx="0" cy="0"/>
        </a:xfrm>
      </p:grpSpPr>
      <p:sp>
        <p:nvSpPr>
          <p:cNvPr id="2" name="Shape 0"/>
          <p:cNvSpPr/>
          <p:nvPr/>
        </p:nvSpPr>
        <p:spPr>
          <a:xfrm>
            <a:off x="365760" y="228600"/>
            <a:ext cx="2011680" cy="347472"/>
          </a:xfrm>
          <a:prstGeom prst="roundRect">
            <a:avLst>
              <a:gd name="adj" fmla="val 13158"/>
            </a:avLst>
          </a:prstGeom>
          <a:solidFill>
            <a:srgbClr val="166534"/>
          </a:solidFill>
          <a:ln/>
          <a:effectLst>
            <a:outerShdw blurRad="101600" dist="38100" dir="8100000" algn="bl" rotWithShape="0">
              <a:srgbClr val="000000">
                <a:alpha val="18000"/>
              </a:srgbClr>
            </a:outerShdw>
          </a:effectLst>
        </p:spPr>
      </p:sp>
      <p:sp>
        <p:nvSpPr>
          <p:cNvPr id="3" name="Text 1"/>
          <p:cNvSpPr/>
          <p:nvPr/>
        </p:nvSpPr>
        <p:spPr>
          <a:xfrm>
            <a:off x="365760" y="228600"/>
            <a:ext cx="2011680" cy="347472"/>
          </a:xfrm>
          <a:prstGeom prst="rect">
            <a:avLst/>
          </a:prstGeom>
          <a:noFill/>
          <a:ln/>
        </p:spPr>
        <p:txBody>
          <a:bodyPr wrap="square" rtlCol="0" anchor="ctr"/>
          <a:lstStyle/>
          <a:p>
            <a:pPr marL="0" indent="0" algn="ctr">
              <a:buNone/>
            </a:pPr>
            <a:r>
              <a:rPr lang="en-US" sz="1000" b="1" dirty="0">
                <a:solidFill>
                  <a:srgbClr val="FFFFFF"/>
                </a:solidFill>
              </a:rPr>
              <a:t>03  INITIAL APPROACH</a:t>
            </a:r>
            <a:endParaRPr lang="en-US" sz="1000" dirty="0"/>
          </a:p>
        </p:txBody>
      </p:sp>
      <p:sp>
        <p:nvSpPr>
          <p:cNvPr id="4" name="Text 2"/>
          <p:cNvSpPr/>
          <p:nvPr/>
        </p:nvSpPr>
        <p:spPr>
          <a:xfrm>
            <a:off x="365760" y="640080"/>
            <a:ext cx="11430000" cy="594360"/>
          </a:xfrm>
          <a:prstGeom prst="rect">
            <a:avLst/>
          </a:prstGeom>
          <a:noFill/>
          <a:ln/>
        </p:spPr>
        <p:txBody>
          <a:bodyPr wrap="square" rtlCol="0" anchor="ctr"/>
          <a:lstStyle/>
          <a:p>
            <a:pPr marL="0" indent="0">
              <a:buNone/>
            </a:pPr>
            <a:r>
              <a:rPr lang="en-US" sz="2600" b="1" dirty="0">
                <a:solidFill>
                  <a:srgbClr val="0A2E1A"/>
                </a:solidFill>
                <a:latin typeface="Georgia" pitchFamily="34" charset="0"/>
                <a:ea typeface="Georgia" pitchFamily="34" charset="-122"/>
                <a:cs typeface="Georgia" pitchFamily="34" charset="-120"/>
              </a:rPr>
              <a:t>How We Started Building KisanPrice</a:t>
            </a:r>
            <a:endParaRPr lang="en-US" sz="2600" dirty="0"/>
          </a:p>
        </p:txBody>
      </p:sp>
      <p:sp>
        <p:nvSpPr>
          <p:cNvPr id="5" name="Shape 3"/>
          <p:cNvSpPr/>
          <p:nvPr/>
        </p:nvSpPr>
        <p:spPr>
          <a:xfrm>
            <a:off x="365760" y="1371600"/>
            <a:ext cx="5486400" cy="5120640"/>
          </a:xfrm>
          <a:prstGeom prst="rect">
            <a:avLst/>
          </a:prstGeom>
          <a:solidFill>
            <a:srgbClr val="0A2E1A"/>
          </a:solidFill>
          <a:ln/>
          <a:effectLst>
            <a:outerShdw blurRad="101600" dist="38100" dir="8100000" algn="bl" rotWithShape="0">
              <a:srgbClr val="000000">
                <a:alpha val="18000"/>
              </a:srgbClr>
            </a:outerShdw>
          </a:effectLst>
        </p:spPr>
      </p:sp>
      <p:sp>
        <p:nvSpPr>
          <p:cNvPr id="6" name="Text 4"/>
          <p:cNvSpPr/>
          <p:nvPr/>
        </p:nvSpPr>
        <p:spPr>
          <a:xfrm>
            <a:off x="502920" y="1481328"/>
            <a:ext cx="5212080" cy="411480"/>
          </a:xfrm>
          <a:prstGeom prst="rect">
            <a:avLst/>
          </a:prstGeom>
          <a:noFill/>
          <a:ln/>
        </p:spPr>
        <p:txBody>
          <a:bodyPr wrap="square" rtlCol="0" anchor="ctr"/>
          <a:lstStyle/>
          <a:p>
            <a:pPr marL="0" indent="0">
              <a:buNone/>
            </a:pPr>
            <a:r>
              <a:rPr lang="en-US" sz="1500" b="1" dirty="0">
                <a:solidFill>
                  <a:srgbClr val="F59E0B"/>
                </a:solidFill>
              </a:rPr>
              <a:t>📦  Dataset Strategy</a:t>
            </a:r>
            <a:endParaRPr lang="en-US" sz="1500" dirty="0"/>
          </a:p>
        </p:txBody>
      </p:sp>
      <p:sp>
        <p:nvSpPr>
          <p:cNvPr id="7" name="Text 5"/>
          <p:cNvSpPr/>
          <p:nvPr/>
        </p:nvSpPr>
        <p:spPr>
          <a:xfrm>
            <a:off x="502920" y="1920240"/>
            <a:ext cx="5120640" cy="1828800"/>
          </a:xfrm>
          <a:prstGeom prst="rect">
            <a:avLst/>
          </a:prstGeom>
          <a:noFill/>
          <a:ln/>
        </p:spPr>
        <p:txBody>
          <a:bodyPr wrap="square" rtlCol="0" anchor="t"/>
          <a:lstStyle/>
          <a:p>
            <a:pPr marL="0" indent="0">
              <a:buNone/>
            </a:pPr>
            <a:r>
              <a:rPr lang="en-US" sz="1100" dirty="0">
                <a:solidFill>
                  <a:srgbClr val="F0FDF4"/>
                </a:solidFill>
              </a:rPr>
              <a:t>We used a synthetically generated dataset modelled on Agmarknet's schema — replicating real seasonal price patterns, mandi structure, and crop arrival data — as a proof of concept.</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FCD34D"/>
                </a:solidFill>
              </a:rPr>
              <a:t>In production, the model will be trained on live Agmarknet data.</a:t>
            </a:r>
            <a:endParaRPr lang="en-US" sz="1100" dirty="0"/>
          </a:p>
          <a:p>
            <a:pPr marL="0" indent="0">
              <a:buNone/>
            </a:pPr>
            <a:r>
              <a:rPr lang="en-US" sz="1100" dirty="0">
                <a:solidFill>
                  <a:srgbClr val="000000"/>
                </a:solidFill>
              </a:rPr>
              <a:t> </a:t>
            </a:r>
            <a:endParaRPr lang="en-US" sz="1100" dirty="0"/>
          </a:p>
          <a:p>
            <a:pPr marL="0" indent="0">
              <a:buNone/>
            </a:pPr>
            <a:r>
              <a:rPr lang="en-US" sz="1200" b="1" dirty="0">
                <a:solidFill>
                  <a:srgbClr val="F59E0B"/>
                </a:solidFill>
              </a:rPr>
              <a:t>What the dataset includes:</a:t>
            </a:r>
            <a:endParaRPr lang="en-US" sz="1100" dirty="0"/>
          </a:p>
        </p:txBody>
      </p:sp>
      <p:sp>
        <p:nvSpPr>
          <p:cNvPr id="8" name="Shape 6"/>
          <p:cNvSpPr/>
          <p:nvPr/>
        </p:nvSpPr>
        <p:spPr>
          <a:xfrm>
            <a:off x="502920" y="3794760"/>
            <a:ext cx="2377440" cy="749808"/>
          </a:xfrm>
          <a:prstGeom prst="rect">
            <a:avLst/>
          </a:prstGeom>
          <a:solidFill>
            <a:srgbClr val="14532D"/>
          </a:solidFill>
          <a:ln/>
        </p:spPr>
      </p:sp>
      <p:sp>
        <p:nvSpPr>
          <p:cNvPr id="9" name="Text 7"/>
          <p:cNvSpPr/>
          <p:nvPr/>
        </p:nvSpPr>
        <p:spPr>
          <a:xfrm>
            <a:off x="502920" y="3831336"/>
            <a:ext cx="2377440" cy="347472"/>
          </a:xfrm>
          <a:prstGeom prst="rect">
            <a:avLst/>
          </a:prstGeom>
          <a:noFill/>
          <a:ln/>
        </p:spPr>
        <p:txBody>
          <a:bodyPr wrap="square" rtlCol="0" anchor="ctr"/>
          <a:lstStyle/>
          <a:p>
            <a:pPr marL="0" indent="0" algn="ctr">
              <a:buNone/>
            </a:pPr>
            <a:r>
              <a:rPr lang="en-US" sz="1400" b="1" dirty="0">
                <a:solidFill>
                  <a:srgbClr val="FCD34D"/>
                </a:solidFill>
              </a:rPr>
              <a:t>28,000+</a:t>
            </a:r>
            <a:endParaRPr lang="en-US" sz="1400" dirty="0"/>
          </a:p>
        </p:txBody>
      </p:sp>
      <p:sp>
        <p:nvSpPr>
          <p:cNvPr id="10" name="Text 8"/>
          <p:cNvSpPr/>
          <p:nvPr/>
        </p:nvSpPr>
        <p:spPr>
          <a:xfrm>
            <a:off x="502920" y="4178808"/>
            <a:ext cx="2377440" cy="329184"/>
          </a:xfrm>
          <a:prstGeom prst="rect">
            <a:avLst/>
          </a:prstGeom>
          <a:noFill/>
          <a:ln/>
        </p:spPr>
        <p:txBody>
          <a:bodyPr wrap="square" rtlCol="0" anchor="ctr"/>
          <a:lstStyle/>
          <a:p>
            <a:pPr marL="0" indent="0" algn="ctr">
              <a:buNone/>
            </a:pPr>
            <a:r>
              <a:rPr lang="en-US" sz="900" dirty="0">
                <a:solidFill>
                  <a:srgbClr val="A7F3D0"/>
                </a:solidFill>
              </a:rPr>
              <a:t>Records generated</a:t>
            </a:r>
            <a:endParaRPr lang="en-US" sz="900" dirty="0"/>
          </a:p>
        </p:txBody>
      </p:sp>
      <p:sp>
        <p:nvSpPr>
          <p:cNvPr id="11" name="Shape 9"/>
          <p:cNvSpPr/>
          <p:nvPr/>
        </p:nvSpPr>
        <p:spPr>
          <a:xfrm>
            <a:off x="3154680" y="3794760"/>
            <a:ext cx="2377440" cy="749808"/>
          </a:xfrm>
          <a:prstGeom prst="rect">
            <a:avLst/>
          </a:prstGeom>
          <a:solidFill>
            <a:srgbClr val="14532D"/>
          </a:solidFill>
          <a:ln/>
        </p:spPr>
      </p:sp>
      <p:sp>
        <p:nvSpPr>
          <p:cNvPr id="12" name="Text 10"/>
          <p:cNvSpPr/>
          <p:nvPr/>
        </p:nvSpPr>
        <p:spPr>
          <a:xfrm>
            <a:off x="3154680" y="3831336"/>
            <a:ext cx="2377440" cy="347472"/>
          </a:xfrm>
          <a:prstGeom prst="rect">
            <a:avLst/>
          </a:prstGeom>
          <a:noFill/>
          <a:ln/>
        </p:spPr>
        <p:txBody>
          <a:bodyPr wrap="square" rtlCol="0" anchor="ctr"/>
          <a:lstStyle/>
          <a:p>
            <a:pPr marL="0" indent="0" algn="ctr">
              <a:buNone/>
            </a:pPr>
            <a:r>
              <a:rPr lang="en-US" sz="1400" b="1" dirty="0">
                <a:solidFill>
                  <a:srgbClr val="FCD34D"/>
                </a:solidFill>
              </a:rPr>
              <a:t>10 Crops</a:t>
            </a:r>
            <a:endParaRPr lang="en-US" sz="1400" dirty="0"/>
          </a:p>
        </p:txBody>
      </p:sp>
      <p:sp>
        <p:nvSpPr>
          <p:cNvPr id="13" name="Text 11"/>
          <p:cNvSpPr/>
          <p:nvPr/>
        </p:nvSpPr>
        <p:spPr>
          <a:xfrm>
            <a:off x="3154680" y="4178808"/>
            <a:ext cx="2377440" cy="329184"/>
          </a:xfrm>
          <a:prstGeom prst="rect">
            <a:avLst/>
          </a:prstGeom>
          <a:noFill/>
          <a:ln/>
        </p:spPr>
        <p:txBody>
          <a:bodyPr wrap="square" rtlCol="0" anchor="ctr"/>
          <a:lstStyle/>
          <a:p>
            <a:pPr marL="0" indent="0" algn="ctr">
              <a:buNone/>
            </a:pPr>
            <a:r>
              <a:rPr lang="en-US" sz="900" dirty="0">
                <a:solidFill>
                  <a:srgbClr val="A7F3D0"/>
                </a:solidFill>
              </a:rPr>
              <a:t>Tomato, Onion, Wheat...</a:t>
            </a:r>
            <a:endParaRPr lang="en-US" sz="900" dirty="0"/>
          </a:p>
        </p:txBody>
      </p:sp>
      <p:sp>
        <p:nvSpPr>
          <p:cNvPr id="14" name="Shape 12"/>
          <p:cNvSpPr/>
          <p:nvPr/>
        </p:nvSpPr>
        <p:spPr>
          <a:xfrm>
            <a:off x="502920" y="4663440"/>
            <a:ext cx="2377440" cy="749808"/>
          </a:xfrm>
          <a:prstGeom prst="rect">
            <a:avLst/>
          </a:prstGeom>
          <a:solidFill>
            <a:srgbClr val="14532D"/>
          </a:solidFill>
          <a:ln/>
        </p:spPr>
      </p:sp>
      <p:sp>
        <p:nvSpPr>
          <p:cNvPr id="15" name="Text 13"/>
          <p:cNvSpPr/>
          <p:nvPr/>
        </p:nvSpPr>
        <p:spPr>
          <a:xfrm>
            <a:off x="502920" y="4700016"/>
            <a:ext cx="2377440" cy="347472"/>
          </a:xfrm>
          <a:prstGeom prst="rect">
            <a:avLst/>
          </a:prstGeom>
          <a:noFill/>
          <a:ln/>
        </p:spPr>
        <p:txBody>
          <a:bodyPr wrap="square" rtlCol="0" anchor="ctr"/>
          <a:lstStyle/>
          <a:p>
            <a:pPr marL="0" indent="0" algn="ctr">
              <a:buNone/>
            </a:pPr>
            <a:r>
              <a:rPr lang="en-US" sz="1400" b="1" dirty="0">
                <a:solidFill>
                  <a:srgbClr val="FCD34D"/>
                </a:solidFill>
              </a:rPr>
              <a:t>11 Mandis</a:t>
            </a:r>
            <a:endParaRPr lang="en-US" sz="1400" dirty="0"/>
          </a:p>
        </p:txBody>
      </p:sp>
      <p:sp>
        <p:nvSpPr>
          <p:cNvPr id="16" name="Text 14"/>
          <p:cNvSpPr/>
          <p:nvPr/>
        </p:nvSpPr>
        <p:spPr>
          <a:xfrm>
            <a:off x="502920" y="5047488"/>
            <a:ext cx="2377440" cy="329184"/>
          </a:xfrm>
          <a:prstGeom prst="rect">
            <a:avLst/>
          </a:prstGeom>
          <a:noFill/>
          <a:ln/>
        </p:spPr>
        <p:txBody>
          <a:bodyPr wrap="square" rtlCol="0" anchor="ctr"/>
          <a:lstStyle/>
          <a:p>
            <a:pPr marL="0" indent="0" algn="ctr">
              <a:buNone/>
            </a:pPr>
            <a:r>
              <a:rPr lang="en-US" sz="900" dirty="0">
                <a:solidFill>
                  <a:srgbClr val="A7F3D0"/>
                </a:solidFill>
              </a:rPr>
              <a:t>Across 5 states</a:t>
            </a:r>
            <a:endParaRPr lang="en-US" sz="900" dirty="0"/>
          </a:p>
        </p:txBody>
      </p:sp>
      <p:sp>
        <p:nvSpPr>
          <p:cNvPr id="17" name="Shape 15"/>
          <p:cNvSpPr/>
          <p:nvPr/>
        </p:nvSpPr>
        <p:spPr>
          <a:xfrm>
            <a:off x="3154680" y="4663440"/>
            <a:ext cx="2377440" cy="749808"/>
          </a:xfrm>
          <a:prstGeom prst="rect">
            <a:avLst/>
          </a:prstGeom>
          <a:solidFill>
            <a:srgbClr val="14532D"/>
          </a:solidFill>
          <a:ln/>
        </p:spPr>
      </p:sp>
      <p:sp>
        <p:nvSpPr>
          <p:cNvPr id="18" name="Text 16"/>
          <p:cNvSpPr/>
          <p:nvPr/>
        </p:nvSpPr>
        <p:spPr>
          <a:xfrm>
            <a:off x="3154680" y="4700016"/>
            <a:ext cx="2377440" cy="347472"/>
          </a:xfrm>
          <a:prstGeom prst="rect">
            <a:avLst/>
          </a:prstGeom>
          <a:noFill/>
          <a:ln/>
        </p:spPr>
        <p:txBody>
          <a:bodyPr wrap="square" rtlCol="0" anchor="ctr"/>
          <a:lstStyle/>
          <a:p>
            <a:pPr marL="0" indent="0" algn="ctr">
              <a:buNone/>
            </a:pPr>
            <a:r>
              <a:rPr lang="en-US" sz="1400" b="1" dirty="0">
                <a:solidFill>
                  <a:srgbClr val="FCD34D"/>
                </a:solidFill>
              </a:rPr>
              <a:t>5 Years</a:t>
            </a:r>
            <a:endParaRPr lang="en-US" sz="1400" dirty="0"/>
          </a:p>
        </p:txBody>
      </p:sp>
      <p:sp>
        <p:nvSpPr>
          <p:cNvPr id="19" name="Text 17"/>
          <p:cNvSpPr/>
          <p:nvPr/>
        </p:nvSpPr>
        <p:spPr>
          <a:xfrm>
            <a:off x="3154680" y="5047488"/>
            <a:ext cx="2377440" cy="329184"/>
          </a:xfrm>
          <a:prstGeom prst="rect">
            <a:avLst/>
          </a:prstGeom>
          <a:noFill/>
          <a:ln/>
        </p:spPr>
        <p:txBody>
          <a:bodyPr wrap="square" rtlCol="0" anchor="ctr"/>
          <a:lstStyle/>
          <a:p>
            <a:pPr marL="0" indent="0" algn="ctr">
              <a:buNone/>
            </a:pPr>
            <a:r>
              <a:rPr lang="en-US" sz="900" dirty="0">
                <a:solidFill>
                  <a:srgbClr val="A7F3D0"/>
                </a:solidFill>
              </a:rPr>
              <a:t>2020–2024</a:t>
            </a:r>
            <a:endParaRPr lang="en-US" sz="900" dirty="0"/>
          </a:p>
        </p:txBody>
      </p:sp>
      <p:sp>
        <p:nvSpPr>
          <p:cNvPr id="20" name="Shape 18"/>
          <p:cNvSpPr/>
          <p:nvPr/>
        </p:nvSpPr>
        <p:spPr>
          <a:xfrm>
            <a:off x="502920" y="5532120"/>
            <a:ext cx="2377440" cy="749808"/>
          </a:xfrm>
          <a:prstGeom prst="rect">
            <a:avLst/>
          </a:prstGeom>
          <a:solidFill>
            <a:srgbClr val="14532D"/>
          </a:solidFill>
          <a:ln/>
        </p:spPr>
      </p:sp>
      <p:sp>
        <p:nvSpPr>
          <p:cNvPr id="21" name="Text 19"/>
          <p:cNvSpPr/>
          <p:nvPr/>
        </p:nvSpPr>
        <p:spPr>
          <a:xfrm>
            <a:off x="502920" y="5568696"/>
            <a:ext cx="2377440" cy="347472"/>
          </a:xfrm>
          <a:prstGeom prst="rect">
            <a:avLst/>
          </a:prstGeom>
          <a:noFill/>
          <a:ln/>
        </p:spPr>
        <p:txBody>
          <a:bodyPr wrap="square" rtlCol="0" anchor="ctr"/>
          <a:lstStyle/>
          <a:p>
            <a:pPr marL="0" indent="0" algn="ctr">
              <a:buNone/>
            </a:pPr>
            <a:r>
              <a:rPr lang="en-US" sz="1400" b="1" dirty="0">
                <a:solidFill>
                  <a:srgbClr val="FCD34D"/>
                </a:solidFill>
              </a:rPr>
              <a:t>Seasonal</a:t>
            </a:r>
            <a:endParaRPr lang="en-US" sz="1400" dirty="0"/>
          </a:p>
        </p:txBody>
      </p:sp>
      <p:sp>
        <p:nvSpPr>
          <p:cNvPr id="22" name="Text 20"/>
          <p:cNvSpPr/>
          <p:nvPr/>
        </p:nvSpPr>
        <p:spPr>
          <a:xfrm>
            <a:off x="502920" y="5916168"/>
            <a:ext cx="2377440" cy="329184"/>
          </a:xfrm>
          <a:prstGeom prst="rect">
            <a:avLst/>
          </a:prstGeom>
          <a:noFill/>
          <a:ln/>
        </p:spPr>
        <p:txBody>
          <a:bodyPr wrap="square" rtlCol="0" anchor="ctr"/>
          <a:lstStyle/>
          <a:p>
            <a:pPr marL="0" indent="0" algn="ctr">
              <a:buNone/>
            </a:pPr>
            <a:r>
              <a:rPr lang="en-US" sz="900" dirty="0">
                <a:solidFill>
                  <a:srgbClr val="A7F3D0"/>
                </a:solidFill>
              </a:rPr>
              <a:t>Price crash at harvest</a:t>
            </a:r>
            <a:endParaRPr lang="en-US" sz="900" dirty="0"/>
          </a:p>
          <a:p>
            <a:pPr marL="0" indent="0" algn="ctr">
              <a:buNone/>
            </a:pPr>
            <a:r>
              <a:rPr lang="en-US" sz="900" dirty="0">
                <a:solidFill>
                  <a:srgbClr val="A7F3D0"/>
                </a:solidFill>
              </a:rPr>
              <a:t>Spike at peak demand</a:t>
            </a:r>
            <a:endParaRPr lang="en-US" sz="900" dirty="0"/>
          </a:p>
        </p:txBody>
      </p:sp>
      <p:sp>
        <p:nvSpPr>
          <p:cNvPr id="23" name="Shape 21"/>
          <p:cNvSpPr/>
          <p:nvPr/>
        </p:nvSpPr>
        <p:spPr>
          <a:xfrm>
            <a:off x="3154680" y="5532120"/>
            <a:ext cx="2377440" cy="749808"/>
          </a:xfrm>
          <a:prstGeom prst="rect">
            <a:avLst/>
          </a:prstGeom>
          <a:solidFill>
            <a:srgbClr val="14532D"/>
          </a:solidFill>
          <a:ln/>
        </p:spPr>
      </p:sp>
      <p:sp>
        <p:nvSpPr>
          <p:cNvPr id="24" name="Text 22"/>
          <p:cNvSpPr/>
          <p:nvPr/>
        </p:nvSpPr>
        <p:spPr>
          <a:xfrm>
            <a:off x="3154680" y="5568696"/>
            <a:ext cx="2377440" cy="347472"/>
          </a:xfrm>
          <a:prstGeom prst="rect">
            <a:avLst/>
          </a:prstGeom>
          <a:noFill/>
          <a:ln/>
        </p:spPr>
        <p:txBody>
          <a:bodyPr wrap="square" rtlCol="0" anchor="ctr"/>
          <a:lstStyle/>
          <a:p>
            <a:pPr marL="0" indent="0" algn="ctr">
              <a:buNone/>
            </a:pPr>
            <a:r>
              <a:rPr lang="en-US" sz="1400" b="1" dirty="0">
                <a:solidFill>
                  <a:srgbClr val="FCD34D"/>
                </a:solidFill>
              </a:rPr>
              <a:t>Features</a:t>
            </a:r>
            <a:endParaRPr lang="en-US" sz="1400" dirty="0"/>
          </a:p>
        </p:txBody>
      </p:sp>
      <p:sp>
        <p:nvSpPr>
          <p:cNvPr id="25" name="Text 23"/>
          <p:cNvSpPr/>
          <p:nvPr/>
        </p:nvSpPr>
        <p:spPr>
          <a:xfrm>
            <a:off x="3154680" y="5916168"/>
            <a:ext cx="2377440" cy="329184"/>
          </a:xfrm>
          <a:prstGeom prst="rect">
            <a:avLst/>
          </a:prstGeom>
          <a:noFill/>
          <a:ln/>
        </p:spPr>
        <p:txBody>
          <a:bodyPr wrap="square" rtlCol="0" anchor="ctr"/>
          <a:lstStyle/>
          <a:p>
            <a:pPr marL="0" indent="0" algn="ctr">
              <a:buNone/>
            </a:pPr>
            <a:r>
              <a:rPr lang="en-US" sz="900" dirty="0">
                <a:solidFill>
                  <a:srgbClr val="A7F3D0"/>
                </a:solidFill>
              </a:rPr>
              <a:t>Rainfall, arrival qty,</a:t>
            </a:r>
            <a:endParaRPr lang="en-US" sz="900" dirty="0"/>
          </a:p>
          <a:p>
            <a:pPr marL="0" indent="0" algn="ctr">
              <a:buNone/>
            </a:pPr>
            <a:r>
              <a:rPr lang="en-US" sz="900" dirty="0">
                <a:solidFill>
                  <a:srgbClr val="A7F3D0"/>
                </a:solidFill>
              </a:rPr>
              <a:t>festival flags, lag prices</a:t>
            </a:r>
            <a:endParaRPr lang="en-US" sz="900" dirty="0"/>
          </a:p>
        </p:txBody>
      </p:sp>
      <p:sp>
        <p:nvSpPr>
          <p:cNvPr id="26" name="Shape 24"/>
          <p:cNvSpPr/>
          <p:nvPr/>
        </p:nvSpPr>
        <p:spPr>
          <a:xfrm>
            <a:off x="6126480" y="1371600"/>
            <a:ext cx="5669280" cy="1115568"/>
          </a:xfrm>
          <a:prstGeom prst="rect">
            <a:avLst/>
          </a:prstGeom>
          <a:solidFill>
            <a:srgbClr val="FFFFFF"/>
          </a:solidFill>
          <a:ln/>
          <a:effectLst>
            <a:outerShdw blurRad="101600" dist="38100" dir="8100000" algn="bl" rotWithShape="0">
              <a:srgbClr val="000000">
                <a:alpha val="18000"/>
              </a:srgbClr>
            </a:outerShdw>
          </a:effectLst>
        </p:spPr>
      </p:sp>
      <p:sp>
        <p:nvSpPr>
          <p:cNvPr id="27" name="Shape 25"/>
          <p:cNvSpPr/>
          <p:nvPr/>
        </p:nvSpPr>
        <p:spPr>
          <a:xfrm>
            <a:off x="6172200" y="1572768"/>
            <a:ext cx="457200" cy="457200"/>
          </a:xfrm>
          <a:prstGeom prst="ellipse">
            <a:avLst/>
          </a:prstGeom>
          <a:solidFill>
            <a:srgbClr val="16A34A"/>
          </a:solidFill>
          <a:ln/>
        </p:spPr>
      </p:sp>
      <p:sp>
        <p:nvSpPr>
          <p:cNvPr id="28" name="Text 26"/>
          <p:cNvSpPr/>
          <p:nvPr/>
        </p:nvSpPr>
        <p:spPr>
          <a:xfrm>
            <a:off x="6172200" y="1572768"/>
            <a:ext cx="457200" cy="457200"/>
          </a:xfrm>
          <a:prstGeom prst="rect">
            <a:avLst/>
          </a:prstGeom>
          <a:noFill/>
          <a:ln/>
        </p:spPr>
        <p:txBody>
          <a:bodyPr wrap="square" rtlCol="0" anchor="ctr"/>
          <a:lstStyle/>
          <a:p>
            <a:pPr marL="0" indent="0" algn="ctr">
              <a:buNone/>
            </a:pPr>
            <a:r>
              <a:rPr lang="en-US" sz="1300" b="1" dirty="0">
                <a:solidFill>
                  <a:srgbClr val="FFFFFF"/>
                </a:solidFill>
              </a:rPr>
              <a:t>1</a:t>
            </a:r>
            <a:endParaRPr lang="en-US" sz="1300" dirty="0"/>
          </a:p>
        </p:txBody>
      </p:sp>
      <p:sp>
        <p:nvSpPr>
          <p:cNvPr id="29" name="Text 27"/>
          <p:cNvSpPr/>
          <p:nvPr/>
        </p:nvSpPr>
        <p:spPr>
          <a:xfrm>
            <a:off x="6720840" y="1463040"/>
            <a:ext cx="4937760" cy="320040"/>
          </a:xfrm>
          <a:prstGeom prst="rect">
            <a:avLst/>
          </a:prstGeom>
          <a:noFill/>
          <a:ln/>
        </p:spPr>
        <p:txBody>
          <a:bodyPr wrap="square" rtlCol="0" anchor="ctr"/>
          <a:lstStyle/>
          <a:p>
            <a:pPr marL="0" indent="0">
              <a:buNone/>
            </a:pPr>
            <a:r>
              <a:rPr lang="en-US" sz="1300" b="1" dirty="0">
                <a:solidFill>
                  <a:srgbClr val="0A2E1A"/>
                </a:solidFill>
              </a:rPr>
              <a:t>Feature Engineering</a:t>
            </a:r>
            <a:endParaRPr lang="en-US" sz="1300" dirty="0"/>
          </a:p>
        </p:txBody>
      </p:sp>
      <p:sp>
        <p:nvSpPr>
          <p:cNvPr id="30" name="Text 28"/>
          <p:cNvSpPr/>
          <p:nvPr/>
        </p:nvSpPr>
        <p:spPr>
          <a:xfrm>
            <a:off x="6720840" y="1783080"/>
            <a:ext cx="4937760" cy="621792"/>
          </a:xfrm>
          <a:prstGeom prst="rect">
            <a:avLst/>
          </a:prstGeom>
          <a:noFill/>
          <a:ln/>
        </p:spPr>
        <p:txBody>
          <a:bodyPr wrap="square" rtlCol="0" anchor="ctr"/>
          <a:lstStyle/>
          <a:p>
            <a:pPr marL="0" indent="0">
              <a:buNone/>
            </a:pPr>
            <a:r>
              <a:rPr lang="en-US" sz="1050" dirty="0">
                <a:solidFill>
                  <a:srgbClr val="374151"/>
                </a:solidFill>
              </a:rPr>
              <a:t>Lag prices (1–4 weeks), month, season, rainfall, festival flag, arrival quantity, rolling average.</a:t>
            </a:r>
            <a:endParaRPr lang="en-US" sz="1050" dirty="0"/>
          </a:p>
        </p:txBody>
      </p:sp>
      <p:sp>
        <p:nvSpPr>
          <p:cNvPr id="31" name="Shape 29"/>
          <p:cNvSpPr/>
          <p:nvPr/>
        </p:nvSpPr>
        <p:spPr>
          <a:xfrm>
            <a:off x="6126480" y="2633472"/>
            <a:ext cx="5669280" cy="1115568"/>
          </a:xfrm>
          <a:prstGeom prst="rect">
            <a:avLst/>
          </a:prstGeom>
          <a:solidFill>
            <a:srgbClr val="FFFFFF"/>
          </a:solidFill>
          <a:ln/>
          <a:effectLst>
            <a:outerShdw blurRad="101600" dist="38100" dir="8100000" algn="bl" rotWithShape="0">
              <a:srgbClr val="000000">
                <a:alpha val="18000"/>
              </a:srgbClr>
            </a:outerShdw>
          </a:effectLst>
        </p:spPr>
      </p:sp>
      <p:sp>
        <p:nvSpPr>
          <p:cNvPr id="32" name="Shape 30"/>
          <p:cNvSpPr/>
          <p:nvPr/>
        </p:nvSpPr>
        <p:spPr>
          <a:xfrm>
            <a:off x="6172200" y="2834640"/>
            <a:ext cx="457200" cy="457200"/>
          </a:xfrm>
          <a:prstGeom prst="ellipse">
            <a:avLst/>
          </a:prstGeom>
          <a:solidFill>
            <a:srgbClr val="16A34A"/>
          </a:solidFill>
          <a:ln/>
        </p:spPr>
      </p:sp>
      <p:sp>
        <p:nvSpPr>
          <p:cNvPr id="33" name="Text 31"/>
          <p:cNvSpPr/>
          <p:nvPr/>
        </p:nvSpPr>
        <p:spPr>
          <a:xfrm>
            <a:off x="6172200" y="2834640"/>
            <a:ext cx="457200" cy="457200"/>
          </a:xfrm>
          <a:prstGeom prst="rect">
            <a:avLst/>
          </a:prstGeom>
          <a:noFill/>
          <a:ln/>
        </p:spPr>
        <p:txBody>
          <a:bodyPr wrap="square" rtlCol="0" anchor="ctr"/>
          <a:lstStyle/>
          <a:p>
            <a:pPr marL="0" indent="0" algn="ctr">
              <a:buNone/>
            </a:pPr>
            <a:r>
              <a:rPr lang="en-US" sz="1300" b="1" dirty="0">
                <a:solidFill>
                  <a:srgbClr val="FFFFFF"/>
                </a:solidFill>
              </a:rPr>
              <a:t>2</a:t>
            </a:r>
            <a:endParaRPr lang="en-US" sz="1300" dirty="0"/>
          </a:p>
        </p:txBody>
      </p:sp>
      <p:sp>
        <p:nvSpPr>
          <p:cNvPr id="34" name="Text 32"/>
          <p:cNvSpPr/>
          <p:nvPr/>
        </p:nvSpPr>
        <p:spPr>
          <a:xfrm>
            <a:off x="6720840" y="2724912"/>
            <a:ext cx="4937760" cy="320040"/>
          </a:xfrm>
          <a:prstGeom prst="rect">
            <a:avLst/>
          </a:prstGeom>
          <a:noFill/>
          <a:ln/>
        </p:spPr>
        <p:txBody>
          <a:bodyPr wrap="square" rtlCol="0" anchor="ctr"/>
          <a:lstStyle/>
          <a:p>
            <a:pPr marL="0" indent="0">
              <a:buNone/>
            </a:pPr>
            <a:r>
              <a:rPr lang="en-US" sz="1300" b="1" dirty="0">
                <a:solidFill>
                  <a:srgbClr val="0A2E1A"/>
                </a:solidFill>
              </a:rPr>
              <a:t>Multiple Models Trained</a:t>
            </a:r>
            <a:endParaRPr lang="en-US" sz="1300" dirty="0"/>
          </a:p>
        </p:txBody>
      </p:sp>
      <p:sp>
        <p:nvSpPr>
          <p:cNvPr id="35" name="Text 33"/>
          <p:cNvSpPr/>
          <p:nvPr/>
        </p:nvSpPr>
        <p:spPr>
          <a:xfrm>
            <a:off x="6720840" y="3044952"/>
            <a:ext cx="4937760" cy="621792"/>
          </a:xfrm>
          <a:prstGeom prst="rect">
            <a:avLst/>
          </a:prstGeom>
          <a:noFill/>
          <a:ln/>
        </p:spPr>
        <p:txBody>
          <a:bodyPr wrap="square" rtlCol="0" anchor="ctr"/>
          <a:lstStyle/>
          <a:p>
            <a:pPr marL="0" indent="0">
              <a:buNone/>
            </a:pPr>
            <a:r>
              <a:rPr lang="en-US" sz="1050" dirty="0">
                <a:solidFill>
                  <a:srgbClr val="374151"/>
                </a:solidFill>
              </a:rPr>
              <a:t>Linear Regression → SVR → Decision Tree → Random Forest → XGBoost. Compare  MAE and R².</a:t>
            </a:r>
            <a:endParaRPr lang="en-US" sz="1050" dirty="0"/>
          </a:p>
        </p:txBody>
      </p:sp>
      <p:sp>
        <p:nvSpPr>
          <p:cNvPr id="36" name="Shape 34"/>
          <p:cNvSpPr/>
          <p:nvPr/>
        </p:nvSpPr>
        <p:spPr>
          <a:xfrm>
            <a:off x="6126480" y="3895344"/>
            <a:ext cx="5669280" cy="1115568"/>
          </a:xfrm>
          <a:prstGeom prst="rect">
            <a:avLst/>
          </a:prstGeom>
          <a:solidFill>
            <a:srgbClr val="FFFFFF"/>
          </a:solidFill>
          <a:ln/>
          <a:effectLst>
            <a:outerShdw blurRad="101600" dist="38100" dir="8100000" algn="bl" rotWithShape="0">
              <a:srgbClr val="000000">
                <a:alpha val="18000"/>
              </a:srgbClr>
            </a:outerShdw>
          </a:effectLst>
        </p:spPr>
      </p:sp>
      <p:sp>
        <p:nvSpPr>
          <p:cNvPr id="37" name="Shape 35"/>
          <p:cNvSpPr/>
          <p:nvPr/>
        </p:nvSpPr>
        <p:spPr>
          <a:xfrm>
            <a:off x="6172200" y="4096512"/>
            <a:ext cx="457200" cy="457200"/>
          </a:xfrm>
          <a:prstGeom prst="ellipse">
            <a:avLst/>
          </a:prstGeom>
          <a:solidFill>
            <a:srgbClr val="16A34A"/>
          </a:solidFill>
          <a:ln/>
        </p:spPr>
      </p:sp>
      <p:sp>
        <p:nvSpPr>
          <p:cNvPr id="38" name="Text 36"/>
          <p:cNvSpPr/>
          <p:nvPr/>
        </p:nvSpPr>
        <p:spPr>
          <a:xfrm>
            <a:off x="6172200" y="4096512"/>
            <a:ext cx="457200" cy="457200"/>
          </a:xfrm>
          <a:prstGeom prst="rect">
            <a:avLst/>
          </a:prstGeom>
          <a:noFill/>
          <a:ln/>
        </p:spPr>
        <p:txBody>
          <a:bodyPr wrap="square" rtlCol="0" anchor="ctr"/>
          <a:lstStyle/>
          <a:p>
            <a:pPr marL="0" indent="0" algn="ctr">
              <a:buNone/>
            </a:pPr>
            <a:r>
              <a:rPr lang="en-US" sz="1300" b="1" dirty="0">
                <a:solidFill>
                  <a:srgbClr val="FFFFFF"/>
                </a:solidFill>
              </a:rPr>
              <a:t>3</a:t>
            </a:r>
            <a:endParaRPr lang="en-US" sz="1300" dirty="0"/>
          </a:p>
        </p:txBody>
      </p:sp>
      <p:sp>
        <p:nvSpPr>
          <p:cNvPr id="39" name="Text 37"/>
          <p:cNvSpPr/>
          <p:nvPr/>
        </p:nvSpPr>
        <p:spPr>
          <a:xfrm>
            <a:off x="6720840" y="3986784"/>
            <a:ext cx="4937760" cy="320040"/>
          </a:xfrm>
          <a:prstGeom prst="rect">
            <a:avLst/>
          </a:prstGeom>
          <a:noFill/>
          <a:ln/>
        </p:spPr>
        <p:txBody>
          <a:bodyPr wrap="square" rtlCol="0" anchor="ctr"/>
          <a:lstStyle/>
          <a:p>
            <a:pPr marL="0" indent="0">
              <a:buNone/>
            </a:pPr>
            <a:r>
              <a:rPr lang="en-US" sz="1300" b="1" dirty="0">
                <a:solidFill>
                  <a:srgbClr val="0A2E1A"/>
                </a:solidFill>
              </a:rPr>
              <a:t>Web Interface</a:t>
            </a:r>
            <a:endParaRPr lang="en-US" sz="1300" dirty="0"/>
          </a:p>
        </p:txBody>
      </p:sp>
      <p:sp>
        <p:nvSpPr>
          <p:cNvPr id="40" name="Text 38"/>
          <p:cNvSpPr/>
          <p:nvPr/>
        </p:nvSpPr>
        <p:spPr>
          <a:xfrm>
            <a:off x="6720840" y="4306824"/>
            <a:ext cx="4937760" cy="621792"/>
          </a:xfrm>
          <a:prstGeom prst="rect">
            <a:avLst/>
          </a:prstGeom>
          <a:noFill/>
          <a:ln/>
        </p:spPr>
        <p:txBody>
          <a:bodyPr wrap="square" rtlCol="0" anchor="ctr"/>
          <a:lstStyle/>
          <a:p>
            <a:pPr marL="0" indent="0">
              <a:buNone/>
            </a:pPr>
            <a:r>
              <a:rPr lang="en-US" sz="1050" dirty="0">
                <a:solidFill>
                  <a:srgbClr val="374151"/>
                </a:solidFill>
              </a:rPr>
              <a:t>Farmer selects crop + market + harvest date → model predicts Week 1–4 prices → recommendation displayed.</a:t>
            </a:r>
            <a:endParaRPr lang="en-US" sz="1050" dirty="0"/>
          </a:p>
        </p:txBody>
      </p:sp>
      <p:sp>
        <p:nvSpPr>
          <p:cNvPr id="41" name="Shape 39"/>
          <p:cNvSpPr/>
          <p:nvPr/>
        </p:nvSpPr>
        <p:spPr>
          <a:xfrm>
            <a:off x="6126480" y="5157216"/>
            <a:ext cx="5669280" cy="1115568"/>
          </a:xfrm>
          <a:prstGeom prst="rect">
            <a:avLst/>
          </a:prstGeom>
          <a:solidFill>
            <a:srgbClr val="FFFFFF"/>
          </a:solidFill>
          <a:ln/>
          <a:effectLst>
            <a:outerShdw blurRad="101600" dist="38100" dir="8100000" algn="bl" rotWithShape="0">
              <a:srgbClr val="000000">
                <a:alpha val="18000"/>
              </a:srgbClr>
            </a:outerShdw>
          </a:effectLst>
        </p:spPr>
      </p:sp>
      <p:sp>
        <p:nvSpPr>
          <p:cNvPr id="42" name="Shape 40"/>
          <p:cNvSpPr/>
          <p:nvPr/>
        </p:nvSpPr>
        <p:spPr>
          <a:xfrm>
            <a:off x="6172200" y="5358384"/>
            <a:ext cx="457200" cy="457200"/>
          </a:xfrm>
          <a:prstGeom prst="ellipse">
            <a:avLst/>
          </a:prstGeom>
          <a:solidFill>
            <a:srgbClr val="16A34A"/>
          </a:solidFill>
          <a:ln/>
        </p:spPr>
      </p:sp>
      <p:sp>
        <p:nvSpPr>
          <p:cNvPr id="43" name="Text 41"/>
          <p:cNvSpPr/>
          <p:nvPr/>
        </p:nvSpPr>
        <p:spPr>
          <a:xfrm>
            <a:off x="6172200" y="5358384"/>
            <a:ext cx="457200" cy="457200"/>
          </a:xfrm>
          <a:prstGeom prst="rect">
            <a:avLst/>
          </a:prstGeom>
          <a:noFill/>
          <a:ln/>
        </p:spPr>
        <p:txBody>
          <a:bodyPr wrap="square" rtlCol="0" anchor="ctr"/>
          <a:lstStyle/>
          <a:p>
            <a:pPr marL="0" indent="0" algn="ctr">
              <a:buNone/>
            </a:pPr>
            <a:r>
              <a:rPr lang="en-US" sz="1300" b="1" dirty="0">
                <a:solidFill>
                  <a:srgbClr val="FFFFFF"/>
                </a:solidFill>
              </a:rPr>
              <a:t>4</a:t>
            </a:r>
            <a:endParaRPr lang="en-US" sz="1300" dirty="0"/>
          </a:p>
        </p:txBody>
      </p:sp>
      <p:sp>
        <p:nvSpPr>
          <p:cNvPr id="44" name="Text 42"/>
          <p:cNvSpPr/>
          <p:nvPr/>
        </p:nvSpPr>
        <p:spPr>
          <a:xfrm>
            <a:off x="6720840" y="5248656"/>
            <a:ext cx="4937760" cy="320040"/>
          </a:xfrm>
          <a:prstGeom prst="rect">
            <a:avLst/>
          </a:prstGeom>
          <a:noFill/>
          <a:ln/>
        </p:spPr>
        <p:txBody>
          <a:bodyPr wrap="square" rtlCol="0" anchor="ctr"/>
          <a:lstStyle/>
          <a:p>
            <a:pPr marL="0" indent="0">
              <a:buNone/>
            </a:pPr>
            <a:r>
              <a:rPr lang="en-US" sz="1300" b="1" dirty="0">
                <a:solidFill>
                  <a:srgbClr val="0A2E1A"/>
                </a:solidFill>
              </a:rPr>
              <a:t>Last-Mile Delivery</a:t>
            </a:r>
            <a:endParaRPr lang="en-US" sz="1300" dirty="0"/>
          </a:p>
        </p:txBody>
      </p:sp>
      <p:sp>
        <p:nvSpPr>
          <p:cNvPr id="45" name="Text 43"/>
          <p:cNvSpPr/>
          <p:nvPr/>
        </p:nvSpPr>
        <p:spPr>
          <a:xfrm>
            <a:off x="6720840" y="5568696"/>
            <a:ext cx="4937760" cy="621792"/>
          </a:xfrm>
          <a:prstGeom prst="rect">
            <a:avLst/>
          </a:prstGeom>
          <a:noFill/>
          <a:ln/>
        </p:spPr>
        <p:txBody>
          <a:bodyPr wrap="square" rtlCol="0" anchor="ctr"/>
          <a:lstStyle/>
          <a:p>
            <a:pPr marL="0" indent="0">
              <a:buNone/>
            </a:pPr>
            <a:r>
              <a:rPr lang="en-US" sz="1050" dirty="0">
                <a:solidFill>
                  <a:srgbClr val="374151"/>
                </a:solidFill>
              </a:rPr>
              <a:t>Forecast sent via SMS, IVR voice call, or WhatsApp — no smartphone required.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FF9"/>
        </a:solidFill>
        <a:effectLst/>
      </p:bgPr>
    </p:bg>
    <p:spTree>
      <p:nvGrpSpPr>
        <p:cNvPr id="1" name=""/>
        <p:cNvGrpSpPr/>
        <p:nvPr/>
      </p:nvGrpSpPr>
      <p:grpSpPr>
        <a:xfrm>
          <a:off x="0" y="0"/>
          <a:ext cx="0" cy="0"/>
          <a:chOff x="0" y="0"/>
          <a:chExt cx="0" cy="0"/>
        </a:xfrm>
      </p:grpSpPr>
      <p:sp>
        <p:nvSpPr>
          <p:cNvPr id="2" name="Shape 0"/>
          <p:cNvSpPr/>
          <p:nvPr/>
        </p:nvSpPr>
        <p:spPr>
          <a:xfrm>
            <a:off x="365760" y="228600"/>
            <a:ext cx="2011680" cy="347472"/>
          </a:xfrm>
          <a:prstGeom prst="roundRect">
            <a:avLst>
              <a:gd name="adj" fmla="val 13158"/>
            </a:avLst>
          </a:prstGeom>
          <a:solidFill>
            <a:srgbClr val="F97316"/>
          </a:solidFill>
          <a:ln/>
          <a:effectLst>
            <a:outerShdw blurRad="101600" dist="38100" dir="8100000" algn="bl" rotWithShape="0">
              <a:srgbClr val="000000">
                <a:alpha val="18000"/>
              </a:srgbClr>
            </a:outerShdw>
          </a:effectLst>
        </p:spPr>
      </p:sp>
      <p:sp>
        <p:nvSpPr>
          <p:cNvPr id="3" name="Text 1"/>
          <p:cNvSpPr/>
          <p:nvPr/>
        </p:nvSpPr>
        <p:spPr>
          <a:xfrm>
            <a:off x="365760" y="228600"/>
            <a:ext cx="2011680" cy="347472"/>
          </a:xfrm>
          <a:prstGeom prst="rect">
            <a:avLst/>
          </a:prstGeom>
          <a:noFill/>
          <a:ln/>
        </p:spPr>
        <p:txBody>
          <a:bodyPr wrap="square" rtlCol="0" anchor="ctr"/>
          <a:lstStyle/>
          <a:p>
            <a:pPr marL="0" indent="0" algn="ctr">
              <a:buNone/>
            </a:pPr>
            <a:r>
              <a:rPr lang="en-US" sz="1000" b="1" dirty="0">
                <a:solidFill>
                  <a:srgbClr val="FFFFFF"/>
                </a:solidFill>
              </a:rPr>
              <a:t>04  FIRST BUILD — V1 MODEL</a:t>
            </a:r>
            <a:endParaRPr lang="en-US" sz="1000" dirty="0"/>
          </a:p>
        </p:txBody>
      </p:sp>
      <p:sp>
        <p:nvSpPr>
          <p:cNvPr id="4" name="Text 2"/>
          <p:cNvSpPr/>
          <p:nvPr/>
        </p:nvSpPr>
        <p:spPr>
          <a:xfrm>
            <a:off x="365760" y="640080"/>
            <a:ext cx="11430000" cy="594360"/>
          </a:xfrm>
          <a:prstGeom prst="rect">
            <a:avLst/>
          </a:prstGeom>
          <a:noFill/>
          <a:ln/>
        </p:spPr>
        <p:txBody>
          <a:bodyPr wrap="square" rtlCol="0" anchor="ctr"/>
          <a:lstStyle/>
          <a:p>
            <a:pPr marL="0" indent="0">
              <a:buNone/>
            </a:pPr>
            <a:r>
              <a:rPr lang="en-US" sz="2600" b="1" dirty="0">
                <a:solidFill>
                  <a:srgbClr val="0A2E1A"/>
                </a:solidFill>
                <a:latin typeface="Georgia" pitchFamily="34" charset="0"/>
                <a:ea typeface="Georgia" pitchFamily="34" charset="-122"/>
                <a:cs typeface="Georgia" pitchFamily="34" charset="-120"/>
              </a:rPr>
              <a:t>We Built a 1-Week Prediction Model First</a:t>
            </a:r>
            <a:endParaRPr lang="en-US" sz="2600" dirty="0"/>
          </a:p>
        </p:txBody>
      </p:sp>
      <p:sp>
        <p:nvSpPr>
          <p:cNvPr id="5" name="Shape 3"/>
          <p:cNvSpPr/>
          <p:nvPr/>
        </p:nvSpPr>
        <p:spPr>
          <a:xfrm>
            <a:off x="365760" y="1353312"/>
            <a:ext cx="4754880" cy="3657600"/>
          </a:xfrm>
          <a:prstGeom prst="rect">
            <a:avLst/>
          </a:prstGeom>
          <a:solidFill>
            <a:srgbClr val="E5E7EB"/>
          </a:solidFill>
          <a:ln/>
          <a:effectLst>
            <a:outerShdw blurRad="101600" dist="38100" dir="8100000" algn="bl" rotWithShape="0">
              <a:srgbClr val="000000">
                <a:alpha val="18000"/>
              </a:srgbClr>
            </a:outerShdw>
          </a:effectLst>
        </p:spPr>
      </p:sp>
      <p:pic>
        <p:nvPicPr>
          <p:cNvPr id="6" name="Image 0" descr="preencoded.png"/>
          <p:cNvPicPr>
            <a:picLocks noChangeAspect="1"/>
          </p:cNvPicPr>
          <p:nvPr/>
        </p:nvPicPr>
        <p:blipFill>
          <a:blip r:embed="rId3"/>
          <a:srcRect/>
          <a:stretch/>
        </p:blipFill>
        <p:spPr>
          <a:xfrm>
            <a:off x="411480" y="1389888"/>
            <a:ext cx="4663440" cy="3566160"/>
          </a:xfrm>
          <a:prstGeom prst="rect">
            <a:avLst/>
          </a:prstGeom>
        </p:spPr>
      </p:pic>
      <p:sp>
        <p:nvSpPr>
          <p:cNvPr id="7" name="Text 4"/>
          <p:cNvSpPr/>
          <p:nvPr/>
        </p:nvSpPr>
        <p:spPr>
          <a:xfrm>
            <a:off x="365760" y="5029200"/>
            <a:ext cx="4754880" cy="320040"/>
          </a:xfrm>
          <a:prstGeom prst="rect">
            <a:avLst/>
          </a:prstGeom>
          <a:noFill/>
          <a:ln/>
        </p:spPr>
        <p:txBody>
          <a:bodyPr wrap="square" rtlCol="0" anchor="ctr"/>
          <a:lstStyle/>
          <a:p>
            <a:pPr marL="0" indent="0" algn="ctr">
              <a:buNone/>
            </a:pPr>
            <a:r>
              <a:rPr lang="en-US" sz="1000" i="1" dirty="0">
                <a:solidFill>
                  <a:srgbClr val="6B7280"/>
                </a:solidFill>
              </a:rPr>
              <a:t>Earlier Interface — V1 (1-Week Only)</a:t>
            </a:r>
            <a:endParaRPr lang="en-US" sz="1000" dirty="0"/>
          </a:p>
        </p:txBody>
      </p:sp>
      <p:sp>
        <p:nvSpPr>
          <p:cNvPr id="8" name="Shape 5"/>
          <p:cNvSpPr/>
          <p:nvPr/>
        </p:nvSpPr>
        <p:spPr>
          <a:xfrm>
            <a:off x="5394960" y="1353312"/>
            <a:ext cx="6400800" cy="1051560"/>
          </a:xfrm>
          <a:prstGeom prst="rect">
            <a:avLst/>
          </a:prstGeom>
          <a:solidFill>
            <a:srgbClr val="16A34A"/>
          </a:solidFill>
          <a:ln/>
          <a:effectLst>
            <a:outerShdw blurRad="101600" dist="38100" dir="8100000" algn="bl" rotWithShape="0">
              <a:srgbClr val="000000">
                <a:alpha val="18000"/>
              </a:srgbClr>
            </a:outerShdw>
          </a:effectLst>
        </p:spPr>
      </p:sp>
      <p:sp>
        <p:nvSpPr>
          <p:cNvPr id="9" name="Text 6"/>
          <p:cNvSpPr/>
          <p:nvPr/>
        </p:nvSpPr>
        <p:spPr>
          <a:xfrm>
            <a:off x="5577840" y="1417320"/>
            <a:ext cx="6126480" cy="411480"/>
          </a:xfrm>
          <a:prstGeom prst="rect">
            <a:avLst/>
          </a:prstGeom>
          <a:noFill/>
          <a:ln/>
        </p:spPr>
        <p:txBody>
          <a:bodyPr wrap="square" rtlCol="0" anchor="ctr"/>
          <a:lstStyle/>
          <a:p>
            <a:pPr marL="0" indent="0">
              <a:buNone/>
            </a:pPr>
            <a:r>
              <a:rPr lang="en-US" sz="1300" b="1" dirty="0">
                <a:solidFill>
                  <a:srgbClr val="FFFFFF"/>
                </a:solidFill>
              </a:rPr>
              <a:t>✅  The model worked — R² score was strong (0.92+)</a:t>
            </a:r>
            <a:endParaRPr lang="en-US" sz="1300" dirty="0"/>
          </a:p>
        </p:txBody>
      </p:sp>
      <p:sp>
        <p:nvSpPr>
          <p:cNvPr id="10" name="Text 7"/>
          <p:cNvSpPr/>
          <p:nvPr/>
        </p:nvSpPr>
        <p:spPr>
          <a:xfrm>
            <a:off x="5577840" y="1828800"/>
            <a:ext cx="6126480" cy="457200"/>
          </a:xfrm>
          <a:prstGeom prst="rect">
            <a:avLst/>
          </a:prstGeom>
          <a:noFill/>
          <a:ln/>
        </p:spPr>
        <p:txBody>
          <a:bodyPr wrap="square" rtlCol="0" anchor="ctr"/>
          <a:lstStyle/>
          <a:p>
            <a:pPr marL="0" indent="0">
              <a:buNone/>
            </a:pPr>
            <a:r>
              <a:rPr lang="en-US" sz="1100" dirty="0">
                <a:solidFill>
                  <a:srgbClr val="DCFCE7"/>
                </a:solidFill>
              </a:rPr>
              <a:t>Predicting only 1 week ahead is mathematically easy — the lag price is the strongest predictor.</a:t>
            </a:r>
            <a:endParaRPr lang="en-US" sz="1100" dirty="0"/>
          </a:p>
        </p:txBody>
      </p:sp>
      <p:sp>
        <p:nvSpPr>
          <p:cNvPr id="11" name="Shape 8"/>
          <p:cNvSpPr/>
          <p:nvPr/>
        </p:nvSpPr>
        <p:spPr>
          <a:xfrm>
            <a:off x="5394960" y="2514600"/>
            <a:ext cx="6400800" cy="365760"/>
          </a:xfrm>
          <a:prstGeom prst="rect">
            <a:avLst/>
          </a:prstGeom>
          <a:solidFill>
            <a:srgbClr val="EF4444"/>
          </a:solidFill>
          <a:ln/>
        </p:spPr>
      </p:sp>
      <p:sp>
        <p:nvSpPr>
          <p:cNvPr id="12" name="Text 9"/>
          <p:cNvSpPr/>
          <p:nvPr/>
        </p:nvSpPr>
        <p:spPr>
          <a:xfrm>
            <a:off x="5394960" y="2514600"/>
            <a:ext cx="6400800" cy="365760"/>
          </a:xfrm>
          <a:prstGeom prst="rect">
            <a:avLst/>
          </a:prstGeom>
          <a:noFill/>
          <a:ln/>
        </p:spPr>
        <p:txBody>
          <a:bodyPr wrap="square" rtlCol="0" anchor="ctr"/>
          <a:lstStyle/>
          <a:p>
            <a:pPr marL="0" indent="0" algn="ctr">
              <a:buNone/>
            </a:pPr>
            <a:r>
              <a:rPr lang="en-US" sz="1200" b="1" dirty="0">
                <a:solidFill>
                  <a:srgbClr val="FFFFFF"/>
                </a:solidFill>
              </a:rPr>
              <a:t>⚠️  But It Did Not Solve the Farmer's Real Problem</a:t>
            </a:r>
            <a:endParaRPr lang="en-US" sz="1200" dirty="0"/>
          </a:p>
        </p:txBody>
      </p:sp>
      <p:sp>
        <p:nvSpPr>
          <p:cNvPr id="13" name="Shape 10"/>
          <p:cNvSpPr/>
          <p:nvPr/>
        </p:nvSpPr>
        <p:spPr>
          <a:xfrm>
            <a:off x="5394960" y="2971800"/>
            <a:ext cx="6400800" cy="658368"/>
          </a:xfrm>
          <a:prstGeom prst="rect">
            <a:avLst/>
          </a:prstGeom>
          <a:solidFill>
            <a:srgbClr val="FFFFFF"/>
          </a:solidFill>
          <a:ln/>
        </p:spPr>
      </p:sp>
      <p:sp>
        <p:nvSpPr>
          <p:cNvPr id="14" name="Shape 11"/>
          <p:cNvSpPr/>
          <p:nvPr/>
        </p:nvSpPr>
        <p:spPr>
          <a:xfrm>
            <a:off x="5394960" y="2971800"/>
            <a:ext cx="45720" cy="658368"/>
          </a:xfrm>
          <a:prstGeom prst="rect">
            <a:avLst/>
          </a:prstGeom>
          <a:solidFill>
            <a:srgbClr val="EF4444"/>
          </a:solidFill>
          <a:ln/>
        </p:spPr>
      </p:sp>
      <p:sp>
        <p:nvSpPr>
          <p:cNvPr id="15" name="Text 12"/>
          <p:cNvSpPr/>
          <p:nvPr/>
        </p:nvSpPr>
        <p:spPr>
          <a:xfrm>
            <a:off x="5532120" y="3017520"/>
            <a:ext cx="6126480" cy="256032"/>
          </a:xfrm>
          <a:prstGeom prst="rect">
            <a:avLst/>
          </a:prstGeom>
          <a:noFill/>
          <a:ln/>
        </p:spPr>
        <p:txBody>
          <a:bodyPr wrap="square" rtlCol="0" anchor="ctr"/>
          <a:lstStyle/>
          <a:p>
            <a:pPr marL="0" indent="0">
              <a:buNone/>
            </a:pPr>
            <a:r>
              <a:rPr lang="en-US" sz="1150" b="1" dirty="0">
                <a:solidFill>
                  <a:srgbClr val="0A2E1A"/>
                </a:solidFill>
              </a:rPr>
              <a:t>📍  Farmer already knows Week 1 price</a:t>
            </a:r>
            <a:endParaRPr lang="en-US" sz="1150" dirty="0"/>
          </a:p>
        </p:txBody>
      </p:sp>
      <p:sp>
        <p:nvSpPr>
          <p:cNvPr id="16" name="Text 13"/>
          <p:cNvSpPr/>
          <p:nvPr/>
        </p:nvSpPr>
        <p:spPr>
          <a:xfrm>
            <a:off x="5532120" y="3273552"/>
            <a:ext cx="6126480" cy="320040"/>
          </a:xfrm>
          <a:prstGeom prst="rect">
            <a:avLst/>
          </a:prstGeom>
          <a:noFill/>
          <a:ln/>
        </p:spPr>
        <p:txBody>
          <a:bodyPr wrap="square" rtlCol="0" anchor="ctr"/>
          <a:lstStyle/>
          <a:p>
            <a:pPr marL="0" indent="0">
              <a:buNone/>
            </a:pPr>
            <a:r>
              <a:rPr lang="en-US" sz="1000" dirty="0">
                <a:solidFill>
                  <a:srgbClr val="4B5563"/>
                </a:solidFill>
              </a:rPr>
              <a:t>He can simply walk to the mandi and check. Our model added zero value for the immediate decision.</a:t>
            </a:r>
            <a:endParaRPr lang="en-US" sz="1000" dirty="0"/>
          </a:p>
        </p:txBody>
      </p:sp>
      <p:sp>
        <p:nvSpPr>
          <p:cNvPr id="17" name="Shape 14"/>
          <p:cNvSpPr/>
          <p:nvPr/>
        </p:nvSpPr>
        <p:spPr>
          <a:xfrm>
            <a:off x="5394960" y="3721608"/>
            <a:ext cx="6400800" cy="658368"/>
          </a:xfrm>
          <a:prstGeom prst="rect">
            <a:avLst/>
          </a:prstGeom>
          <a:solidFill>
            <a:srgbClr val="F9FAFB"/>
          </a:solidFill>
          <a:ln/>
        </p:spPr>
      </p:sp>
      <p:sp>
        <p:nvSpPr>
          <p:cNvPr id="18" name="Shape 15"/>
          <p:cNvSpPr/>
          <p:nvPr/>
        </p:nvSpPr>
        <p:spPr>
          <a:xfrm>
            <a:off x="5394960" y="3721608"/>
            <a:ext cx="45720" cy="658368"/>
          </a:xfrm>
          <a:prstGeom prst="rect">
            <a:avLst/>
          </a:prstGeom>
          <a:solidFill>
            <a:srgbClr val="EF4444"/>
          </a:solidFill>
          <a:ln/>
        </p:spPr>
      </p:sp>
      <p:sp>
        <p:nvSpPr>
          <p:cNvPr id="19" name="Text 16"/>
          <p:cNvSpPr/>
          <p:nvPr/>
        </p:nvSpPr>
        <p:spPr>
          <a:xfrm>
            <a:off x="5532120" y="3767328"/>
            <a:ext cx="6126480" cy="256032"/>
          </a:xfrm>
          <a:prstGeom prst="rect">
            <a:avLst/>
          </a:prstGeom>
          <a:noFill/>
          <a:ln/>
        </p:spPr>
        <p:txBody>
          <a:bodyPr wrap="square" rtlCol="0" anchor="ctr"/>
          <a:lstStyle/>
          <a:p>
            <a:pPr marL="0" indent="0">
              <a:buNone/>
            </a:pPr>
            <a:r>
              <a:rPr lang="en-US" sz="1150" b="1" dirty="0">
                <a:solidFill>
                  <a:srgbClr val="0A2E1A"/>
                </a:solidFill>
              </a:rPr>
              <a:t>🏗️  Storage decisions need 3–4 week visibility</a:t>
            </a:r>
            <a:endParaRPr lang="en-US" sz="1150" dirty="0"/>
          </a:p>
        </p:txBody>
      </p:sp>
      <p:sp>
        <p:nvSpPr>
          <p:cNvPr id="20" name="Text 17"/>
          <p:cNvSpPr/>
          <p:nvPr/>
        </p:nvSpPr>
        <p:spPr>
          <a:xfrm>
            <a:off x="5532120" y="4023360"/>
            <a:ext cx="6126480" cy="320040"/>
          </a:xfrm>
          <a:prstGeom prst="rect">
            <a:avLst/>
          </a:prstGeom>
          <a:noFill/>
          <a:ln/>
        </p:spPr>
        <p:txBody>
          <a:bodyPr wrap="square" rtlCol="0" anchor="ctr"/>
          <a:lstStyle/>
          <a:p>
            <a:pPr marL="0" indent="0">
              <a:buNone/>
            </a:pPr>
            <a:r>
              <a:rPr lang="en-US" sz="1000" dirty="0">
                <a:solidFill>
                  <a:srgbClr val="4B5563"/>
                </a:solidFill>
              </a:rPr>
              <a:t>Cold storage costs ₹200–500/quintal/month. A farmer needs to know if waiting 3–4 weeks is worth it — not just one.</a:t>
            </a:r>
            <a:endParaRPr lang="en-US" sz="1000" dirty="0"/>
          </a:p>
        </p:txBody>
      </p:sp>
      <p:sp>
        <p:nvSpPr>
          <p:cNvPr id="21" name="Shape 18"/>
          <p:cNvSpPr/>
          <p:nvPr/>
        </p:nvSpPr>
        <p:spPr>
          <a:xfrm>
            <a:off x="5394960" y="4471416"/>
            <a:ext cx="6400800" cy="658368"/>
          </a:xfrm>
          <a:prstGeom prst="rect">
            <a:avLst/>
          </a:prstGeom>
          <a:solidFill>
            <a:srgbClr val="FFFFFF"/>
          </a:solidFill>
          <a:ln/>
        </p:spPr>
      </p:sp>
      <p:sp>
        <p:nvSpPr>
          <p:cNvPr id="22" name="Shape 19"/>
          <p:cNvSpPr/>
          <p:nvPr/>
        </p:nvSpPr>
        <p:spPr>
          <a:xfrm>
            <a:off x="5394960" y="4471416"/>
            <a:ext cx="45720" cy="658368"/>
          </a:xfrm>
          <a:prstGeom prst="rect">
            <a:avLst/>
          </a:prstGeom>
          <a:solidFill>
            <a:srgbClr val="EF4444"/>
          </a:solidFill>
          <a:ln/>
        </p:spPr>
      </p:sp>
      <p:sp>
        <p:nvSpPr>
          <p:cNvPr id="23" name="Text 20"/>
          <p:cNvSpPr/>
          <p:nvPr/>
        </p:nvSpPr>
        <p:spPr>
          <a:xfrm>
            <a:off x="5532120" y="4517136"/>
            <a:ext cx="6126480" cy="256032"/>
          </a:xfrm>
          <a:prstGeom prst="rect">
            <a:avLst/>
          </a:prstGeom>
          <a:noFill/>
          <a:ln/>
        </p:spPr>
        <p:txBody>
          <a:bodyPr wrap="square" rtlCol="0" anchor="ctr"/>
          <a:lstStyle/>
          <a:p>
            <a:pPr marL="0" indent="0">
              <a:buNone/>
            </a:pPr>
            <a:r>
              <a:rPr lang="en-US" sz="1150" b="1" dirty="0">
                <a:solidFill>
                  <a:srgbClr val="0A2E1A"/>
                </a:solidFill>
              </a:rPr>
              <a:t>🧠  Middlemen think months ahead</a:t>
            </a:r>
            <a:endParaRPr lang="en-US" sz="1150" dirty="0"/>
          </a:p>
        </p:txBody>
      </p:sp>
      <p:sp>
        <p:nvSpPr>
          <p:cNvPr id="24" name="Text 21"/>
          <p:cNvSpPr/>
          <p:nvPr/>
        </p:nvSpPr>
        <p:spPr>
          <a:xfrm>
            <a:off x="5532120" y="4773168"/>
            <a:ext cx="6126480" cy="320040"/>
          </a:xfrm>
          <a:prstGeom prst="rect">
            <a:avLst/>
          </a:prstGeom>
          <a:noFill/>
          <a:ln/>
        </p:spPr>
        <p:txBody>
          <a:bodyPr wrap="square" rtlCol="0" anchor="ctr"/>
          <a:lstStyle/>
          <a:p>
            <a:pPr marL="0" indent="0">
              <a:buNone/>
            </a:pPr>
            <a:r>
              <a:rPr lang="en-US" sz="1000" dirty="0">
                <a:solidFill>
                  <a:srgbClr val="4B5563"/>
                </a:solidFill>
              </a:rPr>
              <a:t>Our 1-week model did not close the information gap. It gave the farmer only a marginal improvement over doing nothing.</a:t>
            </a:r>
            <a:endParaRPr lang="en-US" sz="1000" dirty="0"/>
          </a:p>
        </p:txBody>
      </p:sp>
      <p:sp>
        <p:nvSpPr>
          <p:cNvPr id="25" name="Shape 22"/>
          <p:cNvSpPr/>
          <p:nvPr/>
        </p:nvSpPr>
        <p:spPr>
          <a:xfrm>
            <a:off x="5394960" y="5221224"/>
            <a:ext cx="6400800" cy="658368"/>
          </a:xfrm>
          <a:prstGeom prst="rect">
            <a:avLst/>
          </a:prstGeom>
          <a:solidFill>
            <a:srgbClr val="F9FAFB"/>
          </a:solidFill>
          <a:ln/>
        </p:spPr>
      </p:sp>
      <p:sp>
        <p:nvSpPr>
          <p:cNvPr id="26" name="Shape 23"/>
          <p:cNvSpPr/>
          <p:nvPr/>
        </p:nvSpPr>
        <p:spPr>
          <a:xfrm>
            <a:off x="5394960" y="5221224"/>
            <a:ext cx="45720" cy="658368"/>
          </a:xfrm>
          <a:prstGeom prst="rect">
            <a:avLst/>
          </a:prstGeom>
          <a:solidFill>
            <a:srgbClr val="EF4444"/>
          </a:solidFill>
          <a:ln/>
        </p:spPr>
      </p:sp>
      <p:sp>
        <p:nvSpPr>
          <p:cNvPr id="27" name="Text 24"/>
          <p:cNvSpPr/>
          <p:nvPr/>
        </p:nvSpPr>
        <p:spPr>
          <a:xfrm>
            <a:off x="5532120" y="5266944"/>
            <a:ext cx="6126480" cy="256032"/>
          </a:xfrm>
          <a:prstGeom prst="rect">
            <a:avLst/>
          </a:prstGeom>
          <a:noFill/>
          <a:ln/>
        </p:spPr>
        <p:txBody>
          <a:bodyPr wrap="square" rtlCol="0" anchor="ctr"/>
          <a:lstStyle/>
          <a:p>
            <a:pPr marL="0" indent="0">
              <a:buNone/>
            </a:pPr>
            <a:r>
              <a:rPr lang="en-US" sz="1150" b="1" dirty="0">
                <a:solidFill>
                  <a:srgbClr val="0A2E1A"/>
                </a:solidFill>
              </a:rPr>
              <a:t>📣  Weak pitch value</a:t>
            </a:r>
            <a:endParaRPr lang="en-US" sz="1150" dirty="0"/>
          </a:p>
        </p:txBody>
      </p:sp>
      <p:sp>
        <p:nvSpPr>
          <p:cNvPr id="28" name="Text 25"/>
          <p:cNvSpPr/>
          <p:nvPr/>
        </p:nvSpPr>
        <p:spPr>
          <a:xfrm>
            <a:off x="5532120" y="5522976"/>
            <a:ext cx="6126480" cy="320040"/>
          </a:xfrm>
          <a:prstGeom prst="rect">
            <a:avLst/>
          </a:prstGeom>
          <a:noFill/>
          <a:ln/>
        </p:spPr>
        <p:txBody>
          <a:bodyPr wrap="square" rtlCol="0" anchor="ctr"/>
          <a:lstStyle/>
          <a:p>
            <a:pPr marL="0" indent="0">
              <a:buNone/>
            </a:pPr>
            <a:r>
              <a:rPr lang="en-US" sz="1000" dirty="0">
                <a:solidFill>
                  <a:srgbClr val="4B5563"/>
                </a:solidFill>
              </a:rPr>
              <a:t>"Wait until next week — maybe earn a bit more?" is not compelling. We needed: "Wait until Week 3 — earn 72% more."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FF9"/>
        </a:solidFill>
        <a:effectLst/>
      </p:bgPr>
    </p:bg>
    <p:spTree>
      <p:nvGrpSpPr>
        <p:cNvPr id="1" name=""/>
        <p:cNvGrpSpPr/>
        <p:nvPr/>
      </p:nvGrpSpPr>
      <p:grpSpPr>
        <a:xfrm>
          <a:off x="0" y="0"/>
          <a:ext cx="0" cy="0"/>
          <a:chOff x="0" y="0"/>
          <a:chExt cx="0" cy="0"/>
        </a:xfrm>
      </p:grpSpPr>
      <p:sp>
        <p:nvSpPr>
          <p:cNvPr id="2" name="Shape 0"/>
          <p:cNvSpPr/>
          <p:nvPr/>
        </p:nvSpPr>
        <p:spPr>
          <a:xfrm>
            <a:off x="365760" y="228600"/>
            <a:ext cx="2011680" cy="347472"/>
          </a:xfrm>
          <a:prstGeom prst="roundRect">
            <a:avLst>
              <a:gd name="adj" fmla="val 13158"/>
            </a:avLst>
          </a:prstGeom>
          <a:solidFill>
            <a:srgbClr val="F97316"/>
          </a:solidFill>
          <a:ln/>
          <a:effectLst>
            <a:outerShdw blurRad="101600" dist="38100" dir="8100000" algn="bl" rotWithShape="0">
              <a:srgbClr val="000000">
                <a:alpha val="18000"/>
              </a:srgbClr>
            </a:outerShdw>
          </a:effectLst>
        </p:spPr>
      </p:sp>
      <p:sp>
        <p:nvSpPr>
          <p:cNvPr id="3" name="Text 1"/>
          <p:cNvSpPr/>
          <p:nvPr/>
        </p:nvSpPr>
        <p:spPr>
          <a:xfrm>
            <a:off x="365760" y="228600"/>
            <a:ext cx="2011680" cy="347472"/>
          </a:xfrm>
          <a:prstGeom prst="rect">
            <a:avLst/>
          </a:prstGeom>
          <a:noFill/>
          <a:ln/>
        </p:spPr>
        <p:txBody>
          <a:bodyPr wrap="square" rtlCol="0" anchor="ctr"/>
          <a:lstStyle/>
          <a:p>
            <a:pPr marL="0" indent="0" algn="ctr">
              <a:buNone/>
            </a:pPr>
            <a:r>
              <a:rPr lang="en-US" sz="1000" b="1" dirty="0">
                <a:solidFill>
                  <a:srgbClr val="FFFFFF"/>
                </a:solidFill>
              </a:rPr>
              <a:t>05  EXTENDING TO 4 WEEKS</a:t>
            </a:r>
            <a:endParaRPr lang="en-US" sz="1000" dirty="0"/>
          </a:p>
        </p:txBody>
      </p:sp>
      <p:sp>
        <p:nvSpPr>
          <p:cNvPr id="4" name="Text 2"/>
          <p:cNvSpPr/>
          <p:nvPr/>
        </p:nvSpPr>
        <p:spPr>
          <a:xfrm>
            <a:off x="365760" y="640080"/>
            <a:ext cx="11430000" cy="594360"/>
          </a:xfrm>
          <a:prstGeom prst="rect">
            <a:avLst/>
          </a:prstGeom>
          <a:noFill/>
          <a:ln/>
        </p:spPr>
        <p:txBody>
          <a:bodyPr wrap="square" rtlCol="0" anchor="ctr"/>
          <a:lstStyle/>
          <a:p>
            <a:pPr marL="0" indent="0">
              <a:buNone/>
            </a:pPr>
            <a:r>
              <a:rPr lang="en-US" sz="2600" b="1" dirty="0">
                <a:solidFill>
                  <a:srgbClr val="0A2E1A"/>
                </a:solidFill>
                <a:latin typeface="Georgia" pitchFamily="34" charset="0"/>
                <a:ea typeface="Georgia" pitchFamily="34" charset="-122"/>
                <a:cs typeface="Georgia" pitchFamily="34" charset="-120"/>
              </a:rPr>
              <a:t>We Extended the Same Model to Predict All 4 Weeks</a:t>
            </a:r>
            <a:endParaRPr lang="en-US" sz="2600" dirty="0"/>
          </a:p>
        </p:txBody>
      </p:sp>
      <p:sp>
        <p:nvSpPr>
          <p:cNvPr id="5" name="Shape 3"/>
          <p:cNvSpPr/>
          <p:nvPr/>
        </p:nvSpPr>
        <p:spPr>
          <a:xfrm>
            <a:off x="365760" y="1353312"/>
            <a:ext cx="4754880" cy="3931920"/>
          </a:xfrm>
          <a:prstGeom prst="rect">
            <a:avLst/>
          </a:prstGeom>
          <a:solidFill>
            <a:srgbClr val="E5E7EB"/>
          </a:solidFill>
          <a:ln/>
          <a:effectLst>
            <a:outerShdw blurRad="101600" dist="38100" dir="8100000" algn="bl" rotWithShape="0">
              <a:srgbClr val="000000">
                <a:alpha val="18000"/>
              </a:srgbClr>
            </a:outerShdw>
          </a:effectLst>
        </p:spPr>
      </p:sp>
      <p:pic>
        <p:nvPicPr>
          <p:cNvPr id="6" name="Image 0" descr="preencoded.png"/>
          <p:cNvPicPr>
            <a:picLocks noChangeAspect="1"/>
          </p:cNvPicPr>
          <p:nvPr/>
        </p:nvPicPr>
        <p:blipFill>
          <a:blip r:embed="rId3"/>
          <a:srcRect/>
          <a:stretch/>
        </p:blipFill>
        <p:spPr>
          <a:xfrm>
            <a:off x="411480" y="1389888"/>
            <a:ext cx="4663440" cy="3840480"/>
          </a:xfrm>
          <a:prstGeom prst="rect">
            <a:avLst/>
          </a:prstGeom>
        </p:spPr>
      </p:pic>
      <p:sp>
        <p:nvSpPr>
          <p:cNvPr id="7" name="Text 4"/>
          <p:cNvSpPr/>
          <p:nvPr/>
        </p:nvSpPr>
        <p:spPr>
          <a:xfrm>
            <a:off x="365760" y="5303520"/>
            <a:ext cx="4754880" cy="320040"/>
          </a:xfrm>
          <a:prstGeom prst="rect">
            <a:avLst/>
          </a:prstGeom>
          <a:noFill/>
          <a:ln/>
        </p:spPr>
        <p:txBody>
          <a:bodyPr wrap="square" rtlCol="0" anchor="ctr"/>
          <a:lstStyle/>
          <a:p>
            <a:pPr marL="0" indent="0" algn="ctr">
              <a:buNone/>
            </a:pPr>
            <a:r>
              <a:rPr lang="en-US" sz="1000" i="1" dirty="0">
                <a:solidFill>
                  <a:srgbClr val="6B7280"/>
                </a:solidFill>
              </a:rPr>
              <a:t>After Modification — 4-Week Output (Same Model)</a:t>
            </a:r>
            <a:endParaRPr lang="en-US" sz="1000" dirty="0"/>
          </a:p>
        </p:txBody>
      </p:sp>
      <p:sp>
        <p:nvSpPr>
          <p:cNvPr id="8" name="Text 5"/>
          <p:cNvSpPr/>
          <p:nvPr/>
        </p:nvSpPr>
        <p:spPr>
          <a:xfrm>
            <a:off x="5486400" y="1353312"/>
            <a:ext cx="6400800" cy="384048"/>
          </a:xfrm>
          <a:prstGeom prst="rect">
            <a:avLst/>
          </a:prstGeom>
          <a:noFill/>
          <a:ln/>
        </p:spPr>
        <p:txBody>
          <a:bodyPr wrap="square" rtlCol="0" anchor="ctr"/>
          <a:lstStyle/>
          <a:p>
            <a:pPr marL="0" indent="0">
              <a:buNone/>
            </a:pPr>
            <a:r>
              <a:rPr lang="en-US" sz="1600" b="1" dirty="0">
                <a:solidFill>
                  <a:srgbClr val="0A2E1A"/>
                </a:solidFill>
              </a:rPr>
              <a:t>The Accuracy Problem</a:t>
            </a:r>
            <a:endParaRPr lang="en-US" sz="1600" dirty="0"/>
          </a:p>
        </p:txBody>
      </p:sp>
      <p:sp>
        <p:nvSpPr>
          <p:cNvPr id="9" name="Text 6"/>
          <p:cNvSpPr/>
          <p:nvPr/>
        </p:nvSpPr>
        <p:spPr>
          <a:xfrm>
            <a:off x="5486400" y="1737360"/>
            <a:ext cx="6400800" cy="502920"/>
          </a:xfrm>
          <a:prstGeom prst="rect">
            <a:avLst/>
          </a:prstGeom>
          <a:noFill/>
          <a:ln/>
        </p:spPr>
        <p:txBody>
          <a:bodyPr wrap="square" rtlCol="0" anchor="ctr"/>
          <a:lstStyle/>
          <a:p>
            <a:pPr marL="0" indent="0">
              <a:buNone/>
            </a:pPr>
            <a:r>
              <a:rPr lang="en-US" sz="1100" dirty="0">
                <a:solidFill>
                  <a:srgbClr val="374151"/>
                </a:solidFill>
              </a:rPr>
              <a:t>When we fed Week 1 predictions back as inputs for Week 2, then Week 2 for Week 3, and so on — errors compounded rapidly.</a:t>
            </a:r>
            <a:endParaRPr lang="en-US" sz="1100" dirty="0"/>
          </a:p>
        </p:txBody>
      </p:sp>
      <p:graphicFrame>
        <p:nvGraphicFramePr>
          <p:cNvPr id="10" name="Chart 0"/>
          <p:cNvGraphicFramePr/>
          <p:nvPr/>
        </p:nvGraphicFramePr>
        <p:xfrm>
          <a:off x="5394960" y="2331720"/>
          <a:ext cx="6400800" cy="2560320"/>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7"/>
          <p:cNvSpPr/>
          <p:nvPr/>
        </p:nvSpPr>
        <p:spPr>
          <a:xfrm>
            <a:off x="5394960" y="5029200"/>
            <a:ext cx="6400800" cy="658368"/>
          </a:xfrm>
          <a:prstGeom prst="rect">
            <a:avLst/>
          </a:prstGeom>
          <a:solidFill>
            <a:srgbClr val="FEF2F2"/>
          </a:solidFill>
          <a:ln/>
          <a:effectLst>
            <a:outerShdw blurRad="101600" dist="38100" dir="8100000" algn="bl" rotWithShape="0">
              <a:srgbClr val="000000">
                <a:alpha val="18000"/>
              </a:srgbClr>
            </a:outerShdw>
          </a:effectLst>
        </p:spPr>
      </p:sp>
      <p:sp>
        <p:nvSpPr>
          <p:cNvPr id="12" name="Shape 8"/>
          <p:cNvSpPr/>
          <p:nvPr/>
        </p:nvSpPr>
        <p:spPr>
          <a:xfrm>
            <a:off x="5394960" y="5029200"/>
            <a:ext cx="54864" cy="658368"/>
          </a:xfrm>
          <a:prstGeom prst="rect">
            <a:avLst/>
          </a:prstGeom>
          <a:solidFill>
            <a:srgbClr val="EF4444"/>
          </a:solidFill>
          <a:ln/>
        </p:spPr>
      </p:sp>
      <p:sp>
        <p:nvSpPr>
          <p:cNvPr id="13" name="Text 9"/>
          <p:cNvSpPr/>
          <p:nvPr/>
        </p:nvSpPr>
        <p:spPr>
          <a:xfrm>
            <a:off x="5532120" y="5065776"/>
            <a:ext cx="6126480" cy="548640"/>
          </a:xfrm>
          <a:prstGeom prst="rect">
            <a:avLst/>
          </a:prstGeom>
          <a:noFill/>
          <a:ln/>
        </p:spPr>
        <p:txBody>
          <a:bodyPr wrap="square" rtlCol="0" anchor="ctr"/>
          <a:lstStyle/>
          <a:p>
            <a:pPr marL="0" indent="0">
              <a:buNone/>
            </a:pPr>
            <a:r>
              <a:rPr lang="en-US" sz="1100" dirty="0">
                <a:solidFill>
                  <a:srgbClr val="991B1B"/>
                </a:solidFill>
              </a:rPr>
              <a:t>❌  Week 4 R² = 0.51 — essentially a coin flip. The model was predicting future prices with only 51% accuracy by Week 4. This was unacceptable.</a:t>
            </a:r>
            <a:endParaRPr lang="en-US" sz="1100" dirty="0"/>
          </a:p>
        </p:txBody>
      </p:sp>
      <p:sp>
        <p:nvSpPr>
          <p:cNvPr id="14" name="Text 10"/>
          <p:cNvSpPr/>
          <p:nvPr/>
        </p:nvSpPr>
        <p:spPr>
          <a:xfrm>
            <a:off x="5394960" y="5760720"/>
            <a:ext cx="6492240" cy="411480"/>
          </a:xfrm>
          <a:prstGeom prst="rect">
            <a:avLst/>
          </a:prstGeom>
          <a:noFill/>
          <a:ln/>
        </p:spPr>
        <p:txBody>
          <a:bodyPr wrap="square" rtlCol="0" anchor="ctr"/>
          <a:lstStyle/>
          <a:p>
            <a:pPr marL="0" indent="0">
              <a:buNone/>
            </a:pPr>
            <a:r>
              <a:rPr lang="en-US" sz="1200" b="1" dirty="0">
                <a:solidFill>
                  <a:srgbClr val="166534"/>
                </a:solidFill>
              </a:rPr>
              <a:t>➡  Solution: Build 4 separate, independent models — one for each week.</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2E1A"/>
        </a:solidFill>
        <a:effectLst/>
      </p:bgPr>
    </p:bg>
    <p:spTree>
      <p:nvGrpSpPr>
        <p:cNvPr id="1" name=""/>
        <p:cNvGrpSpPr/>
        <p:nvPr/>
      </p:nvGrpSpPr>
      <p:grpSpPr>
        <a:xfrm>
          <a:off x="0" y="0"/>
          <a:ext cx="0" cy="0"/>
          <a:chOff x="0" y="0"/>
          <a:chExt cx="0" cy="0"/>
        </a:xfrm>
      </p:grpSpPr>
      <p:sp>
        <p:nvSpPr>
          <p:cNvPr id="2" name="Shape 0"/>
          <p:cNvSpPr/>
          <p:nvPr/>
        </p:nvSpPr>
        <p:spPr>
          <a:xfrm>
            <a:off x="365760" y="228600"/>
            <a:ext cx="2011680" cy="347472"/>
          </a:xfrm>
          <a:prstGeom prst="roundRect">
            <a:avLst>
              <a:gd name="adj" fmla="val 13158"/>
            </a:avLst>
          </a:prstGeom>
          <a:solidFill>
            <a:srgbClr val="166534"/>
          </a:solidFill>
          <a:ln/>
          <a:effectLst>
            <a:outerShdw blurRad="101600" dist="38100" dir="8100000" algn="bl" rotWithShape="0">
              <a:srgbClr val="000000">
                <a:alpha val="18000"/>
              </a:srgbClr>
            </a:outerShdw>
          </a:effectLst>
        </p:spPr>
      </p:sp>
      <p:sp>
        <p:nvSpPr>
          <p:cNvPr id="3" name="Text 1"/>
          <p:cNvSpPr/>
          <p:nvPr/>
        </p:nvSpPr>
        <p:spPr>
          <a:xfrm>
            <a:off x="365760" y="228600"/>
            <a:ext cx="2011680" cy="347472"/>
          </a:xfrm>
          <a:prstGeom prst="rect">
            <a:avLst/>
          </a:prstGeom>
          <a:noFill/>
          <a:ln/>
        </p:spPr>
        <p:txBody>
          <a:bodyPr wrap="square" rtlCol="0" anchor="ctr"/>
          <a:lstStyle/>
          <a:p>
            <a:pPr marL="0" indent="0" algn="ctr">
              <a:buNone/>
            </a:pPr>
            <a:r>
              <a:rPr lang="en-US" sz="1000" b="1" dirty="0">
                <a:solidFill>
                  <a:srgbClr val="FFFFFF"/>
                </a:solidFill>
              </a:rPr>
              <a:t>06  FOUR INDEPENDENT MODELS</a:t>
            </a:r>
            <a:endParaRPr lang="en-US" sz="1000" dirty="0"/>
          </a:p>
        </p:txBody>
      </p:sp>
      <p:sp>
        <p:nvSpPr>
          <p:cNvPr id="4" name="Text 2"/>
          <p:cNvSpPr/>
          <p:nvPr/>
        </p:nvSpPr>
        <p:spPr>
          <a:xfrm>
            <a:off x="365760" y="640080"/>
            <a:ext cx="11430000" cy="594360"/>
          </a:xfrm>
          <a:prstGeom prst="rect">
            <a:avLst/>
          </a:prstGeom>
          <a:noFill/>
          <a:ln/>
        </p:spPr>
        <p:txBody>
          <a:bodyPr wrap="square" rtlCol="0" anchor="ctr"/>
          <a:lstStyle/>
          <a:p>
            <a:pPr marL="0" indent="0">
              <a:buNone/>
            </a:pPr>
            <a:r>
              <a:rPr lang="en-US" sz="2600" b="1" dirty="0">
                <a:solidFill>
                  <a:srgbClr val="F59E0B"/>
                </a:solidFill>
                <a:latin typeface="Georgia" pitchFamily="34" charset="0"/>
                <a:ea typeface="Georgia" pitchFamily="34" charset="-122"/>
                <a:cs typeface="Georgia" pitchFamily="34" charset="-120"/>
              </a:rPr>
              <a:t>We Built 4 Separate ML Models — One Per Week</a:t>
            </a:r>
            <a:endParaRPr lang="en-US" sz="2600" dirty="0"/>
          </a:p>
        </p:txBody>
      </p:sp>
      <p:sp>
        <p:nvSpPr>
          <p:cNvPr id="5" name="Shape 3"/>
          <p:cNvSpPr/>
          <p:nvPr/>
        </p:nvSpPr>
        <p:spPr>
          <a:xfrm>
            <a:off x="365760" y="1417320"/>
            <a:ext cx="2514600" cy="2011680"/>
          </a:xfrm>
          <a:prstGeom prst="rect">
            <a:avLst/>
          </a:prstGeom>
          <a:solidFill>
            <a:srgbClr val="14532D"/>
          </a:solidFill>
          <a:ln/>
          <a:effectLst>
            <a:outerShdw blurRad="101600" dist="38100" dir="8100000" algn="bl" rotWithShape="0">
              <a:srgbClr val="000000">
                <a:alpha val="18000"/>
              </a:srgbClr>
            </a:outerShdw>
          </a:effectLst>
        </p:spPr>
      </p:sp>
      <p:sp>
        <p:nvSpPr>
          <p:cNvPr id="6" name="Shape 4"/>
          <p:cNvSpPr/>
          <p:nvPr/>
        </p:nvSpPr>
        <p:spPr>
          <a:xfrm>
            <a:off x="365760" y="1417320"/>
            <a:ext cx="2514600" cy="54864"/>
          </a:xfrm>
          <a:prstGeom prst="rect">
            <a:avLst/>
          </a:prstGeom>
          <a:solidFill>
            <a:srgbClr val="16A34A"/>
          </a:solidFill>
          <a:ln/>
        </p:spPr>
      </p:sp>
      <p:sp>
        <p:nvSpPr>
          <p:cNvPr id="7" name="Text 5"/>
          <p:cNvSpPr/>
          <p:nvPr/>
        </p:nvSpPr>
        <p:spPr>
          <a:xfrm>
            <a:off x="365760" y="1481328"/>
            <a:ext cx="2514600" cy="384048"/>
          </a:xfrm>
          <a:prstGeom prst="rect">
            <a:avLst/>
          </a:prstGeom>
          <a:noFill/>
          <a:ln/>
        </p:spPr>
        <p:txBody>
          <a:bodyPr wrap="square" rtlCol="0" anchor="ctr"/>
          <a:lstStyle/>
          <a:p>
            <a:pPr marL="0" indent="0" algn="ctr">
              <a:buNone/>
            </a:pPr>
            <a:r>
              <a:rPr lang="en-US" sz="1600" b="1" dirty="0">
                <a:solidFill>
                  <a:srgbClr val="16A34A"/>
                </a:solidFill>
              </a:rPr>
              <a:t>Week 1</a:t>
            </a:r>
            <a:endParaRPr lang="en-US" sz="1600" dirty="0"/>
          </a:p>
        </p:txBody>
      </p:sp>
      <p:sp>
        <p:nvSpPr>
          <p:cNvPr id="8" name="Text 6"/>
          <p:cNvSpPr/>
          <p:nvPr/>
        </p:nvSpPr>
        <p:spPr>
          <a:xfrm>
            <a:off x="365760" y="1874520"/>
            <a:ext cx="2514600" cy="274320"/>
          </a:xfrm>
          <a:prstGeom prst="rect">
            <a:avLst/>
          </a:prstGeom>
          <a:noFill/>
          <a:ln/>
        </p:spPr>
        <p:txBody>
          <a:bodyPr wrap="square" rtlCol="0" anchor="ctr"/>
          <a:lstStyle/>
          <a:p>
            <a:pPr marL="0" indent="0" algn="ctr">
              <a:buNone/>
            </a:pPr>
            <a:r>
              <a:rPr lang="en-US" sz="1000" dirty="0">
                <a:solidFill>
                  <a:srgbClr val="A7F3D0"/>
                </a:solidFill>
              </a:rPr>
              <a:t>XGBoost Model</a:t>
            </a:r>
            <a:endParaRPr lang="en-US" sz="1000" dirty="0"/>
          </a:p>
        </p:txBody>
      </p:sp>
      <p:sp>
        <p:nvSpPr>
          <p:cNvPr id="9" name="Text 7"/>
          <p:cNvSpPr/>
          <p:nvPr/>
        </p:nvSpPr>
        <p:spPr>
          <a:xfrm>
            <a:off x="365760" y="2194560"/>
            <a:ext cx="2514600" cy="411480"/>
          </a:xfrm>
          <a:prstGeom prst="rect">
            <a:avLst/>
          </a:prstGeom>
          <a:noFill/>
          <a:ln/>
        </p:spPr>
        <p:txBody>
          <a:bodyPr wrap="square" rtlCol="0" anchor="ctr"/>
          <a:lstStyle/>
          <a:p>
            <a:pPr marL="0" indent="0" algn="ctr">
              <a:buNone/>
            </a:pPr>
            <a:r>
              <a:rPr lang="en-US" sz="2000" b="1" dirty="0">
                <a:solidFill>
                  <a:srgbClr val="FFFFFF"/>
                </a:solidFill>
              </a:rPr>
              <a:t>R² = 0.94</a:t>
            </a:r>
            <a:endParaRPr lang="en-US" sz="2000" dirty="0"/>
          </a:p>
        </p:txBody>
      </p:sp>
      <p:sp>
        <p:nvSpPr>
          <p:cNvPr id="10" name="Text 8"/>
          <p:cNvSpPr/>
          <p:nvPr/>
        </p:nvSpPr>
        <p:spPr>
          <a:xfrm>
            <a:off x="365760" y="2633472"/>
            <a:ext cx="2514600" cy="320040"/>
          </a:xfrm>
          <a:prstGeom prst="rect">
            <a:avLst/>
          </a:prstGeom>
          <a:noFill/>
          <a:ln/>
        </p:spPr>
        <p:txBody>
          <a:bodyPr wrap="square" rtlCol="0" anchor="ctr"/>
          <a:lstStyle/>
          <a:p>
            <a:pPr marL="0" indent="0" algn="ctr">
              <a:buNone/>
            </a:pPr>
            <a:r>
              <a:rPr lang="en-US" sz="1200" dirty="0">
                <a:solidFill>
                  <a:srgbClr val="A7F3D0"/>
                </a:solidFill>
              </a:rPr>
              <a:t>MAE  ₹82/qtl</a:t>
            </a:r>
            <a:endParaRPr lang="en-US" sz="1200" dirty="0"/>
          </a:p>
        </p:txBody>
      </p:sp>
      <p:sp>
        <p:nvSpPr>
          <p:cNvPr id="11" name="Text 9"/>
          <p:cNvSpPr/>
          <p:nvPr/>
        </p:nvSpPr>
        <p:spPr>
          <a:xfrm>
            <a:off x="365760" y="2971800"/>
            <a:ext cx="2514600" cy="274320"/>
          </a:xfrm>
          <a:prstGeom prst="rect">
            <a:avLst/>
          </a:prstGeom>
          <a:noFill/>
          <a:ln/>
        </p:spPr>
        <p:txBody>
          <a:bodyPr wrap="square" rtlCol="0" anchor="ctr"/>
          <a:lstStyle/>
          <a:p>
            <a:pPr marL="0" indent="0" algn="ctr">
              <a:buNone/>
            </a:pPr>
            <a:r>
              <a:rPr lang="en-US" sz="1000" b="1" dirty="0">
                <a:solidFill>
                  <a:srgbClr val="16A34A"/>
                </a:solidFill>
              </a:rPr>
              <a:t>✅ Acceptable</a:t>
            </a:r>
            <a:endParaRPr lang="en-US" sz="1000" dirty="0"/>
          </a:p>
        </p:txBody>
      </p:sp>
      <p:sp>
        <p:nvSpPr>
          <p:cNvPr id="12" name="Shape 10"/>
          <p:cNvSpPr/>
          <p:nvPr/>
        </p:nvSpPr>
        <p:spPr>
          <a:xfrm>
            <a:off x="3108960" y="1417320"/>
            <a:ext cx="2514600" cy="2011680"/>
          </a:xfrm>
          <a:prstGeom prst="rect">
            <a:avLst/>
          </a:prstGeom>
          <a:solidFill>
            <a:srgbClr val="14532D"/>
          </a:solidFill>
          <a:ln/>
          <a:effectLst>
            <a:outerShdw blurRad="101600" dist="38100" dir="8100000" algn="bl" rotWithShape="0">
              <a:srgbClr val="000000">
                <a:alpha val="18000"/>
              </a:srgbClr>
            </a:outerShdw>
          </a:effectLst>
        </p:spPr>
      </p:sp>
      <p:sp>
        <p:nvSpPr>
          <p:cNvPr id="13" name="Shape 11"/>
          <p:cNvSpPr/>
          <p:nvPr/>
        </p:nvSpPr>
        <p:spPr>
          <a:xfrm>
            <a:off x="3108960" y="1417320"/>
            <a:ext cx="2514600" cy="54864"/>
          </a:xfrm>
          <a:prstGeom prst="rect">
            <a:avLst/>
          </a:prstGeom>
          <a:solidFill>
            <a:srgbClr val="84CC16"/>
          </a:solidFill>
          <a:ln/>
        </p:spPr>
      </p:sp>
      <p:sp>
        <p:nvSpPr>
          <p:cNvPr id="14" name="Text 12"/>
          <p:cNvSpPr/>
          <p:nvPr/>
        </p:nvSpPr>
        <p:spPr>
          <a:xfrm>
            <a:off x="3108960" y="1481328"/>
            <a:ext cx="2514600" cy="384048"/>
          </a:xfrm>
          <a:prstGeom prst="rect">
            <a:avLst/>
          </a:prstGeom>
          <a:noFill/>
          <a:ln/>
        </p:spPr>
        <p:txBody>
          <a:bodyPr wrap="square" rtlCol="0" anchor="ctr"/>
          <a:lstStyle/>
          <a:p>
            <a:pPr marL="0" indent="0" algn="ctr">
              <a:buNone/>
            </a:pPr>
            <a:r>
              <a:rPr lang="en-US" sz="1600" b="1" dirty="0">
                <a:solidFill>
                  <a:srgbClr val="84CC16"/>
                </a:solidFill>
              </a:rPr>
              <a:t>Week 2</a:t>
            </a:r>
            <a:endParaRPr lang="en-US" sz="1600" dirty="0"/>
          </a:p>
        </p:txBody>
      </p:sp>
      <p:sp>
        <p:nvSpPr>
          <p:cNvPr id="15" name="Text 13"/>
          <p:cNvSpPr/>
          <p:nvPr/>
        </p:nvSpPr>
        <p:spPr>
          <a:xfrm>
            <a:off x="3108960" y="1874520"/>
            <a:ext cx="2514600" cy="274320"/>
          </a:xfrm>
          <a:prstGeom prst="rect">
            <a:avLst/>
          </a:prstGeom>
          <a:noFill/>
          <a:ln/>
        </p:spPr>
        <p:txBody>
          <a:bodyPr wrap="square" rtlCol="0" anchor="ctr"/>
          <a:lstStyle/>
          <a:p>
            <a:pPr marL="0" indent="0" algn="ctr">
              <a:buNone/>
            </a:pPr>
            <a:r>
              <a:rPr lang="en-US" sz="1000" dirty="0">
                <a:solidFill>
                  <a:srgbClr val="A7F3D0"/>
                </a:solidFill>
              </a:rPr>
              <a:t>XGBoost Model</a:t>
            </a:r>
            <a:endParaRPr lang="en-US" sz="1000" dirty="0"/>
          </a:p>
        </p:txBody>
      </p:sp>
      <p:sp>
        <p:nvSpPr>
          <p:cNvPr id="16" name="Text 14"/>
          <p:cNvSpPr/>
          <p:nvPr/>
        </p:nvSpPr>
        <p:spPr>
          <a:xfrm>
            <a:off x="3108960" y="2194560"/>
            <a:ext cx="2514600" cy="411480"/>
          </a:xfrm>
          <a:prstGeom prst="rect">
            <a:avLst/>
          </a:prstGeom>
          <a:noFill/>
          <a:ln/>
        </p:spPr>
        <p:txBody>
          <a:bodyPr wrap="square" rtlCol="0" anchor="ctr"/>
          <a:lstStyle/>
          <a:p>
            <a:pPr marL="0" indent="0" algn="ctr">
              <a:buNone/>
            </a:pPr>
            <a:r>
              <a:rPr lang="en-US" sz="2000" b="1" dirty="0">
                <a:solidFill>
                  <a:srgbClr val="FFFFFF"/>
                </a:solidFill>
              </a:rPr>
              <a:t>R² = 0.89</a:t>
            </a:r>
            <a:endParaRPr lang="en-US" sz="2000" dirty="0"/>
          </a:p>
        </p:txBody>
      </p:sp>
      <p:sp>
        <p:nvSpPr>
          <p:cNvPr id="17" name="Text 15"/>
          <p:cNvSpPr/>
          <p:nvPr/>
        </p:nvSpPr>
        <p:spPr>
          <a:xfrm>
            <a:off x="3108960" y="2633472"/>
            <a:ext cx="2514600" cy="320040"/>
          </a:xfrm>
          <a:prstGeom prst="rect">
            <a:avLst/>
          </a:prstGeom>
          <a:noFill/>
          <a:ln/>
        </p:spPr>
        <p:txBody>
          <a:bodyPr wrap="square" rtlCol="0" anchor="ctr"/>
          <a:lstStyle/>
          <a:p>
            <a:pPr marL="0" indent="0" algn="ctr">
              <a:buNone/>
            </a:pPr>
            <a:r>
              <a:rPr lang="en-US" sz="1200" dirty="0">
                <a:solidFill>
                  <a:srgbClr val="A7F3D0"/>
                </a:solidFill>
              </a:rPr>
              <a:t>MAE  ₹124/qtl</a:t>
            </a:r>
            <a:endParaRPr lang="en-US" sz="1200" dirty="0"/>
          </a:p>
        </p:txBody>
      </p:sp>
      <p:sp>
        <p:nvSpPr>
          <p:cNvPr id="18" name="Text 16"/>
          <p:cNvSpPr/>
          <p:nvPr/>
        </p:nvSpPr>
        <p:spPr>
          <a:xfrm>
            <a:off x="3108960" y="2971800"/>
            <a:ext cx="2514600" cy="274320"/>
          </a:xfrm>
          <a:prstGeom prst="rect">
            <a:avLst/>
          </a:prstGeom>
          <a:noFill/>
          <a:ln/>
        </p:spPr>
        <p:txBody>
          <a:bodyPr wrap="square" rtlCol="0" anchor="ctr"/>
          <a:lstStyle/>
          <a:p>
            <a:pPr marL="0" indent="0" algn="ctr">
              <a:buNone/>
            </a:pPr>
            <a:r>
              <a:rPr lang="en-US" sz="1000" b="1" dirty="0">
                <a:solidFill>
                  <a:srgbClr val="84CC16"/>
                </a:solidFill>
              </a:rPr>
              <a:t>✅ Acceptable</a:t>
            </a:r>
            <a:endParaRPr lang="en-US" sz="1000" dirty="0"/>
          </a:p>
        </p:txBody>
      </p:sp>
      <p:sp>
        <p:nvSpPr>
          <p:cNvPr id="19" name="Shape 17"/>
          <p:cNvSpPr/>
          <p:nvPr/>
        </p:nvSpPr>
        <p:spPr>
          <a:xfrm>
            <a:off x="5852160" y="1417320"/>
            <a:ext cx="2514600" cy="2011680"/>
          </a:xfrm>
          <a:prstGeom prst="rect">
            <a:avLst/>
          </a:prstGeom>
          <a:solidFill>
            <a:srgbClr val="14532D"/>
          </a:solidFill>
          <a:ln/>
          <a:effectLst>
            <a:outerShdw blurRad="101600" dist="38100" dir="8100000" algn="bl" rotWithShape="0">
              <a:srgbClr val="000000">
                <a:alpha val="18000"/>
              </a:srgbClr>
            </a:outerShdw>
          </a:effectLst>
        </p:spPr>
      </p:sp>
      <p:sp>
        <p:nvSpPr>
          <p:cNvPr id="20" name="Shape 18"/>
          <p:cNvSpPr/>
          <p:nvPr/>
        </p:nvSpPr>
        <p:spPr>
          <a:xfrm>
            <a:off x="5852160" y="1417320"/>
            <a:ext cx="2514600" cy="54864"/>
          </a:xfrm>
          <a:prstGeom prst="rect">
            <a:avLst/>
          </a:prstGeom>
          <a:solidFill>
            <a:srgbClr val="F59E0B"/>
          </a:solidFill>
          <a:ln/>
        </p:spPr>
      </p:sp>
      <p:sp>
        <p:nvSpPr>
          <p:cNvPr id="21" name="Text 19"/>
          <p:cNvSpPr/>
          <p:nvPr/>
        </p:nvSpPr>
        <p:spPr>
          <a:xfrm>
            <a:off x="5852160" y="1481328"/>
            <a:ext cx="2514600" cy="384048"/>
          </a:xfrm>
          <a:prstGeom prst="rect">
            <a:avLst/>
          </a:prstGeom>
          <a:noFill/>
          <a:ln/>
        </p:spPr>
        <p:txBody>
          <a:bodyPr wrap="square" rtlCol="0" anchor="ctr"/>
          <a:lstStyle/>
          <a:p>
            <a:pPr marL="0" indent="0" algn="ctr">
              <a:buNone/>
            </a:pPr>
            <a:r>
              <a:rPr lang="en-US" sz="1600" b="1" dirty="0">
                <a:solidFill>
                  <a:srgbClr val="F59E0B"/>
                </a:solidFill>
              </a:rPr>
              <a:t>Week 3</a:t>
            </a:r>
            <a:endParaRPr lang="en-US" sz="1600" dirty="0"/>
          </a:p>
        </p:txBody>
      </p:sp>
      <p:sp>
        <p:nvSpPr>
          <p:cNvPr id="22" name="Text 20"/>
          <p:cNvSpPr/>
          <p:nvPr/>
        </p:nvSpPr>
        <p:spPr>
          <a:xfrm>
            <a:off x="5852160" y="1874520"/>
            <a:ext cx="2514600" cy="274320"/>
          </a:xfrm>
          <a:prstGeom prst="rect">
            <a:avLst/>
          </a:prstGeom>
          <a:noFill/>
          <a:ln/>
        </p:spPr>
        <p:txBody>
          <a:bodyPr wrap="square" rtlCol="0" anchor="ctr"/>
          <a:lstStyle/>
          <a:p>
            <a:pPr marL="0" indent="0" algn="ctr">
              <a:buNone/>
            </a:pPr>
            <a:r>
              <a:rPr lang="en-US" sz="1000" dirty="0">
                <a:solidFill>
                  <a:srgbClr val="A7F3D0"/>
                </a:solidFill>
              </a:rPr>
              <a:t>XGBoost Model</a:t>
            </a:r>
            <a:endParaRPr lang="en-US" sz="1000" dirty="0"/>
          </a:p>
        </p:txBody>
      </p:sp>
      <p:sp>
        <p:nvSpPr>
          <p:cNvPr id="23" name="Text 21"/>
          <p:cNvSpPr/>
          <p:nvPr/>
        </p:nvSpPr>
        <p:spPr>
          <a:xfrm>
            <a:off x="5852160" y="2194560"/>
            <a:ext cx="2514600" cy="411480"/>
          </a:xfrm>
          <a:prstGeom prst="rect">
            <a:avLst/>
          </a:prstGeom>
          <a:noFill/>
          <a:ln/>
        </p:spPr>
        <p:txBody>
          <a:bodyPr wrap="square" rtlCol="0" anchor="ctr"/>
          <a:lstStyle/>
          <a:p>
            <a:pPr marL="0" indent="0" algn="ctr">
              <a:buNone/>
            </a:pPr>
            <a:r>
              <a:rPr lang="en-US" sz="2000" b="1" dirty="0">
                <a:solidFill>
                  <a:srgbClr val="FFFFFF"/>
                </a:solidFill>
              </a:rPr>
              <a:t>R² = 0.83</a:t>
            </a:r>
            <a:endParaRPr lang="en-US" sz="2000" dirty="0"/>
          </a:p>
        </p:txBody>
      </p:sp>
      <p:sp>
        <p:nvSpPr>
          <p:cNvPr id="24" name="Text 22"/>
          <p:cNvSpPr/>
          <p:nvPr/>
        </p:nvSpPr>
        <p:spPr>
          <a:xfrm>
            <a:off x="5852160" y="2633472"/>
            <a:ext cx="2514600" cy="320040"/>
          </a:xfrm>
          <a:prstGeom prst="rect">
            <a:avLst/>
          </a:prstGeom>
          <a:noFill/>
          <a:ln/>
        </p:spPr>
        <p:txBody>
          <a:bodyPr wrap="square" rtlCol="0" anchor="ctr"/>
          <a:lstStyle/>
          <a:p>
            <a:pPr marL="0" indent="0" algn="ctr">
              <a:buNone/>
            </a:pPr>
            <a:r>
              <a:rPr lang="en-US" sz="1200" dirty="0">
                <a:solidFill>
                  <a:srgbClr val="A7F3D0"/>
                </a:solidFill>
              </a:rPr>
              <a:t>MAE  ₹167/qtl</a:t>
            </a:r>
            <a:endParaRPr lang="en-US" sz="1200" dirty="0"/>
          </a:p>
        </p:txBody>
      </p:sp>
      <p:sp>
        <p:nvSpPr>
          <p:cNvPr id="25" name="Text 23"/>
          <p:cNvSpPr/>
          <p:nvPr/>
        </p:nvSpPr>
        <p:spPr>
          <a:xfrm>
            <a:off x="5852160" y="2971800"/>
            <a:ext cx="2514600" cy="274320"/>
          </a:xfrm>
          <a:prstGeom prst="rect">
            <a:avLst/>
          </a:prstGeom>
          <a:noFill/>
          <a:ln/>
        </p:spPr>
        <p:txBody>
          <a:bodyPr wrap="square" rtlCol="0" anchor="ctr"/>
          <a:lstStyle/>
          <a:p>
            <a:pPr marL="0" indent="0" algn="ctr">
              <a:buNone/>
            </a:pPr>
            <a:r>
              <a:rPr lang="en-US" sz="1000" b="1" dirty="0">
                <a:solidFill>
                  <a:srgbClr val="F59E0B"/>
                </a:solidFill>
              </a:rPr>
              <a:t>✅ Acceptable</a:t>
            </a:r>
            <a:endParaRPr lang="en-US" sz="1000" dirty="0"/>
          </a:p>
        </p:txBody>
      </p:sp>
      <p:sp>
        <p:nvSpPr>
          <p:cNvPr id="26" name="Shape 24"/>
          <p:cNvSpPr/>
          <p:nvPr/>
        </p:nvSpPr>
        <p:spPr>
          <a:xfrm>
            <a:off x="8595360" y="1417320"/>
            <a:ext cx="2514600" cy="2011680"/>
          </a:xfrm>
          <a:prstGeom prst="rect">
            <a:avLst/>
          </a:prstGeom>
          <a:solidFill>
            <a:srgbClr val="14532D"/>
          </a:solidFill>
          <a:ln/>
          <a:effectLst>
            <a:outerShdw blurRad="101600" dist="38100" dir="8100000" algn="bl" rotWithShape="0">
              <a:srgbClr val="000000">
                <a:alpha val="18000"/>
              </a:srgbClr>
            </a:outerShdw>
          </a:effectLst>
        </p:spPr>
      </p:sp>
      <p:sp>
        <p:nvSpPr>
          <p:cNvPr id="27" name="Shape 25"/>
          <p:cNvSpPr/>
          <p:nvPr/>
        </p:nvSpPr>
        <p:spPr>
          <a:xfrm>
            <a:off x="8595360" y="1417320"/>
            <a:ext cx="2514600" cy="54864"/>
          </a:xfrm>
          <a:prstGeom prst="rect">
            <a:avLst/>
          </a:prstGeom>
          <a:solidFill>
            <a:srgbClr val="F97316"/>
          </a:solidFill>
          <a:ln/>
        </p:spPr>
      </p:sp>
      <p:sp>
        <p:nvSpPr>
          <p:cNvPr id="28" name="Text 26"/>
          <p:cNvSpPr/>
          <p:nvPr/>
        </p:nvSpPr>
        <p:spPr>
          <a:xfrm>
            <a:off x="8595360" y="1481328"/>
            <a:ext cx="2514600" cy="384048"/>
          </a:xfrm>
          <a:prstGeom prst="rect">
            <a:avLst/>
          </a:prstGeom>
          <a:noFill/>
          <a:ln/>
        </p:spPr>
        <p:txBody>
          <a:bodyPr wrap="square" rtlCol="0" anchor="ctr"/>
          <a:lstStyle/>
          <a:p>
            <a:pPr marL="0" indent="0" algn="ctr">
              <a:buNone/>
            </a:pPr>
            <a:r>
              <a:rPr lang="en-US" sz="1600" b="1" dirty="0">
                <a:solidFill>
                  <a:srgbClr val="F97316"/>
                </a:solidFill>
              </a:rPr>
              <a:t>Week 4</a:t>
            </a:r>
            <a:endParaRPr lang="en-US" sz="1600" dirty="0"/>
          </a:p>
        </p:txBody>
      </p:sp>
      <p:sp>
        <p:nvSpPr>
          <p:cNvPr id="29" name="Text 27"/>
          <p:cNvSpPr/>
          <p:nvPr/>
        </p:nvSpPr>
        <p:spPr>
          <a:xfrm>
            <a:off x="8595360" y="1874520"/>
            <a:ext cx="2514600" cy="274320"/>
          </a:xfrm>
          <a:prstGeom prst="rect">
            <a:avLst/>
          </a:prstGeom>
          <a:noFill/>
          <a:ln/>
        </p:spPr>
        <p:txBody>
          <a:bodyPr wrap="square" rtlCol="0" anchor="ctr"/>
          <a:lstStyle/>
          <a:p>
            <a:pPr marL="0" indent="0" algn="ctr">
              <a:buNone/>
            </a:pPr>
            <a:r>
              <a:rPr lang="en-US" sz="1000" dirty="0">
                <a:solidFill>
                  <a:srgbClr val="A7F3D0"/>
                </a:solidFill>
              </a:rPr>
              <a:t>XGBoost Model</a:t>
            </a:r>
            <a:endParaRPr lang="en-US" sz="1000" dirty="0"/>
          </a:p>
        </p:txBody>
      </p:sp>
      <p:sp>
        <p:nvSpPr>
          <p:cNvPr id="30" name="Text 28"/>
          <p:cNvSpPr/>
          <p:nvPr/>
        </p:nvSpPr>
        <p:spPr>
          <a:xfrm>
            <a:off x="8595360" y="2194560"/>
            <a:ext cx="2514600" cy="411480"/>
          </a:xfrm>
          <a:prstGeom prst="rect">
            <a:avLst/>
          </a:prstGeom>
          <a:noFill/>
          <a:ln/>
        </p:spPr>
        <p:txBody>
          <a:bodyPr wrap="square" rtlCol="0" anchor="ctr"/>
          <a:lstStyle/>
          <a:p>
            <a:pPr marL="0" indent="0" algn="ctr">
              <a:buNone/>
            </a:pPr>
            <a:r>
              <a:rPr lang="en-US" sz="2000" b="1" dirty="0">
                <a:solidFill>
                  <a:srgbClr val="FFFFFF"/>
                </a:solidFill>
              </a:rPr>
              <a:t>R² = 0.77</a:t>
            </a:r>
            <a:endParaRPr lang="en-US" sz="2000" dirty="0"/>
          </a:p>
        </p:txBody>
      </p:sp>
      <p:sp>
        <p:nvSpPr>
          <p:cNvPr id="31" name="Text 29"/>
          <p:cNvSpPr/>
          <p:nvPr/>
        </p:nvSpPr>
        <p:spPr>
          <a:xfrm>
            <a:off x="8595360" y="2633472"/>
            <a:ext cx="2514600" cy="320040"/>
          </a:xfrm>
          <a:prstGeom prst="rect">
            <a:avLst/>
          </a:prstGeom>
          <a:noFill/>
          <a:ln/>
        </p:spPr>
        <p:txBody>
          <a:bodyPr wrap="square" rtlCol="0" anchor="ctr"/>
          <a:lstStyle/>
          <a:p>
            <a:pPr marL="0" indent="0" algn="ctr">
              <a:buNone/>
            </a:pPr>
            <a:r>
              <a:rPr lang="en-US" sz="1200" dirty="0">
                <a:solidFill>
                  <a:srgbClr val="A7F3D0"/>
                </a:solidFill>
              </a:rPr>
              <a:t>MAE  ₹198/qtl</a:t>
            </a:r>
            <a:endParaRPr lang="en-US" sz="1200" dirty="0"/>
          </a:p>
        </p:txBody>
      </p:sp>
      <p:sp>
        <p:nvSpPr>
          <p:cNvPr id="32" name="Text 30"/>
          <p:cNvSpPr/>
          <p:nvPr/>
        </p:nvSpPr>
        <p:spPr>
          <a:xfrm>
            <a:off x="8595360" y="2971800"/>
            <a:ext cx="2514600" cy="274320"/>
          </a:xfrm>
          <a:prstGeom prst="rect">
            <a:avLst/>
          </a:prstGeom>
          <a:noFill/>
          <a:ln/>
        </p:spPr>
        <p:txBody>
          <a:bodyPr wrap="square" rtlCol="0" anchor="ctr"/>
          <a:lstStyle/>
          <a:p>
            <a:pPr marL="0" indent="0" algn="ctr">
              <a:buNone/>
            </a:pPr>
            <a:r>
              <a:rPr lang="en-US" sz="1000" b="1" dirty="0">
                <a:solidFill>
                  <a:srgbClr val="F97316"/>
                </a:solidFill>
              </a:rPr>
              <a:t>✅ Acceptable</a:t>
            </a:r>
            <a:endParaRPr lang="en-US" sz="1000" dirty="0"/>
          </a:p>
        </p:txBody>
      </p:sp>
      <p:sp>
        <p:nvSpPr>
          <p:cNvPr id="33" name="Shape 31"/>
          <p:cNvSpPr/>
          <p:nvPr/>
        </p:nvSpPr>
        <p:spPr>
          <a:xfrm>
            <a:off x="365760" y="3611880"/>
            <a:ext cx="11430000" cy="411480"/>
          </a:xfrm>
          <a:prstGeom prst="rect">
            <a:avLst/>
          </a:prstGeom>
          <a:solidFill>
            <a:srgbClr val="EF4444"/>
          </a:solidFill>
          <a:ln/>
        </p:spPr>
      </p:sp>
      <p:sp>
        <p:nvSpPr>
          <p:cNvPr id="34" name="Text 32"/>
          <p:cNvSpPr/>
          <p:nvPr/>
        </p:nvSpPr>
        <p:spPr>
          <a:xfrm>
            <a:off x="365760" y="3611880"/>
            <a:ext cx="11430000" cy="411480"/>
          </a:xfrm>
          <a:prstGeom prst="rect">
            <a:avLst/>
          </a:prstGeom>
          <a:noFill/>
          <a:ln/>
        </p:spPr>
        <p:txBody>
          <a:bodyPr wrap="square" rtlCol="0" anchor="ctr"/>
          <a:lstStyle/>
          <a:p>
            <a:pPr marL="0" indent="0" algn="ctr">
              <a:buNone/>
            </a:pPr>
            <a:r>
              <a:rPr lang="en-US" sz="1400" b="1" dirty="0">
                <a:solidFill>
                  <a:srgbClr val="FFFFFF"/>
                </a:solidFill>
              </a:rPr>
              <a:t>⚠️  A Critical Bug Discovered — 2 Days Lost</a:t>
            </a:r>
            <a:endParaRPr lang="en-US" sz="1400" dirty="0"/>
          </a:p>
        </p:txBody>
      </p:sp>
      <p:sp>
        <p:nvSpPr>
          <p:cNvPr id="35" name="Shape 33"/>
          <p:cNvSpPr/>
          <p:nvPr/>
        </p:nvSpPr>
        <p:spPr>
          <a:xfrm>
            <a:off x="365760" y="4114800"/>
            <a:ext cx="3611880" cy="2487168"/>
          </a:xfrm>
          <a:prstGeom prst="rect">
            <a:avLst/>
          </a:prstGeom>
          <a:solidFill>
            <a:srgbClr val="14532D"/>
          </a:solidFill>
          <a:ln/>
          <a:effectLst>
            <a:outerShdw blurRad="101600" dist="38100" dir="8100000" algn="bl" rotWithShape="0">
              <a:srgbClr val="000000">
                <a:alpha val="18000"/>
              </a:srgbClr>
            </a:outerShdw>
          </a:effectLst>
        </p:spPr>
      </p:sp>
      <p:sp>
        <p:nvSpPr>
          <p:cNvPr id="36" name="Text 34"/>
          <p:cNvSpPr/>
          <p:nvPr/>
        </p:nvSpPr>
        <p:spPr>
          <a:xfrm>
            <a:off x="365760" y="4187952"/>
            <a:ext cx="3611880" cy="4114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7" name="Text 35"/>
          <p:cNvSpPr/>
          <p:nvPr/>
        </p:nvSpPr>
        <p:spPr>
          <a:xfrm>
            <a:off x="502920" y="4617720"/>
            <a:ext cx="3337560" cy="347472"/>
          </a:xfrm>
          <a:prstGeom prst="rect">
            <a:avLst/>
          </a:prstGeom>
          <a:noFill/>
          <a:ln/>
        </p:spPr>
        <p:txBody>
          <a:bodyPr wrap="square" rtlCol="0" anchor="ctr"/>
          <a:lstStyle/>
          <a:p>
            <a:pPr marL="0" indent="0">
              <a:buNone/>
            </a:pPr>
            <a:r>
              <a:rPr lang="en-US" sz="1300" b="1" dirty="0">
                <a:solidFill>
                  <a:srgbClr val="FCD34D"/>
                </a:solidFill>
              </a:rPr>
              <a:t>The Problem</a:t>
            </a:r>
            <a:endParaRPr lang="en-US" sz="1300" dirty="0"/>
          </a:p>
        </p:txBody>
      </p:sp>
      <p:sp>
        <p:nvSpPr>
          <p:cNvPr id="38" name="Text 36"/>
          <p:cNvSpPr/>
          <p:nvPr/>
        </p:nvSpPr>
        <p:spPr>
          <a:xfrm>
            <a:off x="502920" y="4983480"/>
            <a:ext cx="3337560" cy="1508760"/>
          </a:xfrm>
          <a:prstGeom prst="rect">
            <a:avLst/>
          </a:prstGeom>
          <a:noFill/>
          <a:ln/>
        </p:spPr>
        <p:txBody>
          <a:bodyPr wrap="square" rtlCol="0" anchor="ctr"/>
          <a:lstStyle/>
          <a:p>
            <a:pPr marL="0" indent="0">
              <a:buNone/>
            </a:pPr>
            <a:r>
              <a:rPr lang="en-US" sz="1050" dirty="0">
                <a:solidFill>
                  <a:srgbClr val="A7F3D0"/>
                </a:solidFill>
              </a:rPr>
              <a:t>While validating with historical records, we realised the model was only using Commodity and Market as inputs — but completely ignoring the Harvest Date, which is the most critical input a farmer provides.</a:t>
            </a:r>
            <a:endParaRPr lang="en-US" sz="1050" dirty="0"/>
          </a:p>
        </p:txBody>
      </p:sp>
      <p:sp>
        <p:nvSpPr>
          <p:cNvPr id="39" name="Shape 37"/>
          <p:cNvSpPr/>
          <p:nvPr/>
        </p:nvSpPr>
        <p:spPr>
          <a:xfrm>
            <a:off x="4206240" y="4114800"/>
            <a:ext cx="3611880" cy="2487168"/>
          </a:xfrm>
          <a:prstGeom prst="rect">
            <a:avLst/>
          </a:prstGeom>
          <a:solidFill>
            <a:srgbClr val="14532D"/>
          </a:solidFill>
          <a:ln/>
          <a:effectLst>
            <a:outerShdw blurRad="101600" dist="38100" dir="8100000" algn="bl" rotWithShape="0">
              <a:srgbClr val="000000">
                <a:alpha val="18000"/>
              </a:srgbClr>
            </a:outerShdw>
          </a:effectLst>
        </p:spPr>
      </p:sp>
      <p:sp>
        <p:nvSpPr>
          <p:cNvPr id="40" name="Text 38"/>
          <p:cNvSpPr/>
          <p:nvPr/>
        </p:nvSpPr>
        <p:spPr>
          <a:xfrm>
            <a:off x="4206240" y="4187952"/>
            <a:ext cx="3611880" cy="4114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41" name="Text 39"/>
          <p:cNvSpPr/>
          <p:nvPr/>
        </p:nvSpPr>
        <p:spPr>
          <a:xfrm>
            <a:off x="4343400" y="4617720"/>
            <a:ext cx="3337560" cy="347472"/>
          </a:xfrm>
          <a:prstGeom prst="rect">
            <a:avLst/>
          </a:prstGeom>
          <a:noFill/>
          <a:ln/>
        </p:spPr>
        <p:txBody>
          <a:bodyPr wrap="square" rtlCol="0" anchor="ctr"/>
          <a:lstStyle/>
          <a:p>
            <a:pPr marL="0" indent="0">
              <a:buNone/>
            </a:pPr>
            <a:r>
              <a:rPr lang="en-US" sz="1300" b="1" dirty="0">
                <a:solidFill>
                  <a:srgbClr val="FCD34D"/>
                </a:solidFill>
              </a:rPr>
              <a:t>The Side Effect</a:t>
            </a:r>
            <a:endParaRPr lang="en-US" sz="1300" dirty="0"/>
          </a:p>
        </p:txBody>
      </p:sp>
      <p:sp>
        <p:nvSpPr>
          <p:cNvPr id="42" name="Text 40"/>
          <p:cNvSpPr/>
          <p:nvPr/>
        </p:nvSpPr>
        <p:spPr>
          <a:xfrm>
            <a:off x="4343400" y="4983480"/>
            <a:ext cx="3337560" cy="1508760"/>
          </a:xfrm>
          <a:prstGeom prst="rect">
            <a:avLst/>
          </a:prstGeom>
          <a:noFill/>
          <a:ln/>
        </p:spPr>
        <p:txBody>
          <a:bodyPr wrap="square" rtlCol="0" anchor="ctr"/>
          <a:lstStyle/>
          <a:p>
            <a:pPr marL="0" indent="0">
              <a:buNone/>
            </a:pPr>
            <a:r>
              <a:rPr lang="en-US" sz="1050" dirty="0">
                <a:solidFill>
                  <a:srgbClr val="A7F3D0"/>
                </a:solidFill>
              </a:rPr>
              <a:t>Since Harvest Date was missing, Rainfall_mm (a key training feature) was being defaulted to 0 mm in predictions — producing systematically wrong forecasts, especially for monsoon crops.</a:t>
            </a:r>
            <a:endParaRPr lang="en-US" sz="1050" dirty="0"/>
          </a:p>
        </p:txBody>
      </p:sp>
      <p:sp>
        <p:nvSpPr>
          <p:cNvPr id="43" name="Shape 41"/>
          <p:cNvSpPr/>
          <p:nvPr/>
        </p:nvSpPr>
        <p:spPr>
          <a:xfrm>
            <a:off x="8046720" y="4114800"/>
            <a:ext cx="3611880" cy="2487168"/>
          </a:xfrm>
          <a:prstGeom prst="rect">
            <a:avLst/>
          </a:prstGeom>
          <a:solidFill>
            <a:srgbClr val="14532D"/>
          </a:solidFill>
          <a:ln/>
          <a:effectLst>
            <a:outerShdw blurRad="101600" dist="38100" dir="8100000" algn="bl" rotWithShape="0">
              <a:srgbClr val="000000">
                <a:alpha val="18000"/>
              </a:srgbClr>
            </a:outerShdw>
          </a:effectLst>
        </p:spPr>
      </p:sp>
      <p:sp>
        <p:nvSpPr>
          <p:cNvPr id="44" name="Text 42"/>
          <p:cNvSpPr/>
          <p:nvPr/>
        </p:nvSpPr>
        <p:spPr>
          <a:xfrm>
            <a:off x="8046720" y="4187952"/>
            <a:ext cx="3611880" cy="4114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45" name="Text 43"/>
          <p:cNvSpPr/>
          <p:nvPr/>
        </p:nvSpPr>
        <p:spPr>
          <a:xfrm>
            <a:off x="8183880" y="4617720"/>
            <a:ext cx="3337560" cy="347472"/>
          </a:xfrm>
          <a:prstGeom prst="rect">
            <a:avLst/>
          </a:prstGeom>
          <a:noFill/>
          <a:ln/>
        </p:spPr>
        <p:txBody>
          <a:bodyPr wrap="square" rtlCol="0" anchor="ctr"/>
          <a:lstStyle/>
          <a:p>
            <a:pPr marL="0" indent="0">
              <a:buNone/>
            </a:pPr>
            <a:r>
              <a:rPr lang="en-US" sz="1300" b="1" dirty="0">
                <a:solidFill>
                  <a:srgbClr val="FCD34D"/>
                </a:solidFill>
              </a:rPr>
              <a:t>The Fix</a:t>
            </a:r>
            <a:endParaRPr lang="en-US" sz="1300" dirty="0"/>
          </a:p>
        </p:txBody>
      </p:sp>
      <p:sp>
        <p:nvSpPr>
          <p:cNvPr id="46" name="Text 44"/>
          <p:cNvSpPr/>
          <p:nvPr/>
        </p:nvSpPr>
        <p:spPr>
          <a:xfrm>
            <a:off x="8183880" y="4983480"/>
            <a:ext cx="3337560" cy="1508760"/>
          </a:xfrm>
          <a:prstGeom prst="rect">
            <a:avLst/>
          </a:prstGeom>
          <a:noFill/>
          <a:ln/>
        </p:spPr>
        <p:txBody>
          <a:bodyPr wrap="square" rtlCol="0" anchor="ctr"/>
          <a:lstStyle/>
          <a:p>
            <a:pPr marL="0" indent="0">
              <a:buNone/>
            </a:pPr>
            <a:r>
              <a:rPr lang="en-US" sz="1050" dirty="0">
                <a:solidFill>
                  <a:srgbClr val="A7F3D0"/>
                </a:solidFill>
              </a:rPr>
              <a:t>We rebuilt the data pipeline to correctly incorporate the harvest date into feature generation, ensuring rainfall and seasonal factors are computed from the actual target prediction window.</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FF9"/>
        </a:solidFill>
        <a:effectLst/>
      </p:bgPr>
    </p:bg>
    <p:spTree>
      <p:nvGrpSpPr>
        <p:cNvPr id="1" name=""/>
        <p:cNvGrpSpPr/>
        <p:nvPr/>
      </p:nvGrpSpPr>
      <p:grpSpPr>
        <a:xfrm>
          <a:off x="0" y="0"/>
          <a:ext cx="0" cy="0"/>
          <a:chOff x="0" y="0"/>
          <a:chExt cx="0" cy="0"/>
        </a:xfrm>
      </p:grpSpPr>
      <p:sp>
        <p:nvSpPr>
          <p:cNvPr id="2" name="Shape 0"/>
          <p:cNvSpPr/>
          <p:nvPr/>
        </p:nvSpPr>
        <p:spPr>
          <a:xfrm>
            <a:off x="365760" y="228600"/>
            <a:ext cx="2011680" cy="347472"/>
          </a:xfrm>
          <a:prstGeom prst="roundRect">
            <a:avLst>
              <a:gd name="adj" fmla="val 13158"/>
            </a:avLst>
          </a:prstGeom>
          <a:solidFill>
            <a:srgbClr val="166534"/>
          </a:solidFill>
          <a:ln/>
          <a:effectLst>
            <a:outerShdw blurRad="101600" dist="38100" dir="8100000" algn="bl" rotWithShape="0">
              <a:srgbClr val="000000">
                <a:alpha val="18000"/>
              </a:srgbClr>
            </a:outerShdw>
          </a:effectLst>
        </p:spPr>
      </p:sp>
      <p:sp>
        <p:nvSpPr>
          <p:cNvPr id="3" name="Text 1"/>
          <p:cNvSpPr/>
          <p:nvPr/>
        </p:nvSpPr>
        <p:spPr>
          <a:xfrm>
            <a:off x="365760" y="228600"/>
            <a:ext cx="2011680" cy="347472"/>
          </a:xfrm>
          <a:prstGeom prst="rect">
            <a:avLst/>
          </a:prstGeom>
          <a:noFill/>
          <a:ln/>
        </p:spPr>
        <p:txBody>
          <a:bodyPr wrap="square" rtlCol="0" anchor="ctr"/>
          <a:lstStyle/>
          <a:p>
            <a:pPr marL="0" indent="0" algn="ctr">
              <a:buNone/>
            </a:pPr>
            <a:r>
              <a:rPr lang="en-US" sz="1000" b="1" dirty="0">
                <a:solidFill>
                  <a:srgbClr val="FFFFFF"/>
                </a:solidFill>
              </a:rPr>
              <a:t>07  WEATHER API INTEGRATION</a:t>
            </a:r>
            <a:endParaRPr lang="en-US" sz="1000" dirty="0"/>
          </a:p>
        </p:txBody>
      </p:sp>
      <p:sp>
        <p:nvSpPr>
          <p:cNvPr id="4" name="Text 2"/>
          <p:cNvSpPr/>
          <p:nvPr/>
        </p:nvSpPr>
        <p:spPr>
          <a:xfrm>
            <a:off x="365760" y="640080"/>
            <a:ext cx="11430000" cy="594360"/>
          </a:xfrm>
          <a:prstGeom prst="rect">
            <a:avLst/>
          </a:prstGeom>
          <a:noFill/>
          <a:ln/>
        </p:spPr>
        <p:txBody>
          <a:bodyPr wrap="square" rtlCol="0" anchor="ctr"/>
          <a:lstStyle/>
          <a:p>
            <a:pPr marL="0" indent="0">
              <a:buNone/>
            </a:pPr>
            <a:r>
              <a:rPr lang="en-US" sz="2600" b="1" dirty="0">
                <a:solidFill>
                  <a:srgbClr val="0A2E1A"/>
                </a:solidFill>
                <a:latin typeface="Georgia" pitchFamily="34" charset="0"/>
                <a:ea typeface="Georgia" pitchFamily="34" charset="-122"/>
                <a:cs typeface="Georgia" pitchFamily="34" charset="-120"/>
              </a:rPr>
              <a:t>Solving the Rainfall Problem with Open-Meteo API</a:t>
            </a:r>
            <a:endParaRPr lang="en-US" sz="2600" dirty="0"/>
          </a:p>
        </p:txBody>
      </p:sp>
      <p:sp>
        <p:nvSpPr>
          <p:cNvPr id="5" name="Shape 3"/>
          <p:cNvSpPr/>
          <p:nvPr/>
        </p:nvSpPr>
        <p:spPr>
          <a:xfrm>
            <a:off x="6675120" y="1353312"/>
            <a:ext cx="5212080" cy="5212080"/>
          </a:xfrm>
          <a:prstGeom prst="rect">
            <a:avLst/>
          </a:prstGeom>
          <a:solidFill>
            <a:srgbClr val="E5E7EB"/>
          </a:solidFill>
          <a:ln/>
          <a:effectLst>
            <a:outerShdw blurRad="101600" dist="38100" dir="8100000" algn="bl" rotWithShape="0">
              <a:srgbClr val="000000">
                <a:alpha val="18000"/>
              </a:srgbClr>
            </a:outerShdw>
          </a:effectLst>
        </p:spPr>
      </p:sp>
      <p:pic>
        <p:nvPicPr>
          <p:cNvPr id="6" name="Image 0" descr="preencoded.png"/>
          <p:cNvPicPr>
            <a:picLocks noChangeAspect="1"/>
          </p:cNvPicPr>
          <p:nvPr/>
        </p:nvPicPr>
        <p:blipFill>
          <a:blip r:embed="rId3"/>
          <a:srcRect/>
          <a:stretch/>
        </p:blipFill>
        <p:spPr>
          <a:xfrm>
            <a:off x="6720840" y="1389888"/>
            <a:ext cx="5120640" cy="5120640"/>
          </a:xfrm>
          <a:prstGeom prst="rect">
            <a:avLst/>
          </a:prstGeom>
        </p:spPr>
      </p:pic>
      <p:sp>
        <p:nvSpPr>
          <p:cNvPr id="7" name="Text 4"/>
          <p:cNvSpPr/>
          <p:nvPr/>
        </p:nvSpPr>
        <p:spPr>
          <a:xfrm>
            <a:off x="6675120" y="6583680"/>
            <a:ext cx="5212080" cy="274320"/>
          </a:xfrm>
          <a:prstGeom prst="rect">
            <a:avLst/>
          </a:prstGeom>
          <a:noFill/>
          <a:ln/>
        </p:spPr>
        <p:txBody>
          <a:bodyPr wrap="square" rtlCol="0" anchor="ctr"/>
          <a:lstStyle/>
          <a:p>
            <a:pPr marL="0" indent="0" algn="ctr">
              <a:buNone/>
            </a:pPr>
            <a:r>
              <a:rPr lang="en-US" sz="950" i="1" dirty="0">
                <a:solidFill>
                  <a:srgbClr val="6B7280"/>
                </a:solidFill>
              </a:rPr>
              <a:t>Current Interface — Live Rainfall-Aware Predictions</a:t>
            </a:r>
            <a:endParaRPr lang="en-US" sz="950" dirty="0"/>
          </a:p>
        </p:txBody>
      </p:sp>
      <p:sp>
        <p:nvSpPr>
          <p:cNvPr id="8" name="Shape 5"/>
          <p:cNvSpPr/>
          <p:nvPr/>
        </p:nvSpPr>
        <p:spPr>
          <a:xfrm>
            <a:off x="365760" y="1371600"/>
            <a:ext cx="6080760" cy="1170432"/>
          </a:xfrm>
          <a:prstGeom prst="rect">
            <a:avLst/>
          </a:prstGeom>
          <a:solidFill>
            <a:srgbClr val="FFFFFF"/>
          </a:solidFill>
          <a:ln/>
          <a:effectLst>
            <a:outerShdw blurRad="101600" dist="38100" dir="8100000" algn="bl" rotWithShape="0">
              <a:srgbClr val="000000">
                <a:alpha val="18000"/>
              </a:srgbClr>
            </a:outerShdw>
          </a:effectLst>
        </p:spPr>
      </p:sp>
      <p:sp>
        <p:nvSpPr>
          <p:cNvPr id="9" name="Shape 6"/>
          <p:cNvSpPr/>
          <p:nvPr/>
        </p:nvSpPr>
        <p:spPr>
          <a:xfrm>
            <a:off x="411480" y="1627632"/>
            <a:ext cx="475488" cy="475488"/>
          </a:xfrm>
          <a:prstGeom prst="ellipse">
            <a:avLst/>
          </a:prstGeom>
          <a:solidFill>
            <a:srgbClr val="16A34A"/>
          </a:solidFill>
          <a:ln/>
        </p:spPr>
      </p:sp>
      <p:sp>
        <p:nvSpPr>
          <p:cNvPr id="10" name="Text 7"/>
          <p:cNvSpPr/>
          <p:nvPr/>
        </p:nvSpPr>
        <p:spPr>
          <a:xfrm>
            <a:off x="411480" y="1627632"/>
            <a:ext cx="475488" cy="475488"/>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11" name="Text 8"/>
          <p:cNvSpPr/>
          <p:nvPr/>
        </p:nvSpPr>
        <p:spPr>
          <a:xfrm>
            <a:off x="1005840" y="1463040"/>
            <a:ext cx="5303520" cy="329184"/>
          </a:xfrm>
          <a:prstGeom prst="rect">
            <a:avLst/>
          </a:prstGeom>
          <a:noFill/>
          <a:ln/>
        </p:spPr>
        <p:txBody>
          <a:bodyPr wrap="square" rtlCol="0" anchor="ctr"/>
          <a:lstStyle/>
          <a:p>
            <a:pPr marL="0" indent="0">
              <a:buNone/>
            </a:pPr>
            <a:r>
              <a:rPr lang="en-US" sz="1250" b="1" dirty="0">
                <a:solidFill>
                  <a:srgbClr val="0A2E1A"/>
                </a:solidFill>
              </a:rPr>
              <a:t>Free Weather API — Open-Meteo</a:t>
            </a:r>
            <a:endParaRPr lang="en-US" sz="1250" dirty="0"/>
          </a:p>
        </p:txBody>
      </p:sp>
      <p:sp>
        <p:nvSpPr>
          <p:cNvPr id="12" name="Text 9"/>
          <p:cNvSpPr/>
          <p:nvPr/>
        </p:nvSpPr>
        <p:spPr>
          <a:xfrm>
            <a:off x="1005840" y="1801368"/>
            <a:ext cx="5303520" cy="658368"/>
          </a:xfrm>
          <a:prstGeom prst="rect">
            <a:avLst/>
          </a:prstGeom>
          <a:noFill/>
          <a:ln/>
        </p:spPr>
        <p:txBody>
          <a:bodyPr wrap="square" rtlCol="0" anchor="ctr"/>
          <a:lstStyle/>
          <a:p>
            <a:pPr marL="0" indent="0">
              <a:buNone/>
            </a:pPr>
            <a:r>
              <a:rPr lang="en-US" sz="1050" dirty="0">
                <a:solidFill>
                  <a:srgbClr val="374151"/>
                </a:solidFill>
              </a:rPr>
              <a:t>We integrated the Open-Meteo API, which provides free 14-day rainfall forecasts. For predictions within 14 days, the model uses real forecasted rainfall data.</a:t>
            </a:r>
            <a:endParaRPr lang="en-US" sz="1050" dirty="0"/>
          </a:p>
        </p:txBody>
      </p:sp>
      <p:sp>
        <p:nvSpPr>
          <p:cNvPr id="13" name="Shape 10"/>
          <p:cNvSpPr/>
          <p:nvPr/>
        </p:nvSpPr>
        <p:spPr>
          <a:xfrm>
            <a:off x="365760" y="2670048"/>
            <a:ext cx="6080760" cy="1170432"/>
          </a:xfrm>
          <a:prstGeom prst="rect">
            <a:avLst/>
          </a:prstGeom>
          <a:solidFill>
            <a:srgbClr val="FFFFFF"/>
          </a:solidFill>
          <a:ln/>
          <a:effectLst>
            <a:outerShdw blurRad="101600" dist="38100" dir="8100000" algn="bl" rotWithShape="0">
              <a:srgbClr val="000000">
                <a:alpha val="18000"/>
              </a:srgbClr>
            </a:outerShdw>
          </a:effectLst>
        </p:spPr>
      </p:sp>
      <p:sp>
        <p:nvSpPr>
          <p:cNvPr id="14" name="Shape 11"/>
          <p:cNvSpPr/>
          <p:nvPr/>
        </p:nvSpPr>
        <p:spPr>
          <a:xfrm>
            <a:off x="411480" y="2926080"/>
            <a:ext cx="475488" cy="475488"/>
          </a:xfrm>
          <a:prstGeom prst="ellipse">
            <a:avLst/>
          </a:prstGeom>
          <a:solidFill>
            <a:srgbClr val="F59E0B"/>
          </a:solidFill>
          <a:ln/>
        </p:spPr>
      </p:sp>
      <p:sp>
        <p:nvSpPr>
          <p:cNvPr id="15" name="Text 12"/>
          <p:cNvSpPr/>
          <p:nvPr/>
        </p:nvSpPr>
        <p:spPr>
          <a:xfrm>
            <a:off x="411480" y="2926080"/>
            <a:ext cx="475488" cy="475488"/>
          </a:xfrm>
          <a:prstGeom prst="rect">
            <a:avLst/>
          </a:prstGeom>
          <a:noFill/>
          <a:ln/>
        </p:spPr>
        <p:txBody>
          <a:bodyPr wrap="square" rtlCol="0" anchor="ctr"/>
          <a:lstStyle/>
          <a:p>
            <a:pPr marL="0" indent="0" algn="ctr">
              <a:buNone/>
            </a:pPr>
            <a:r>
              <a:rPr lang="en-US" sz="1400" b="1" dirty="0">
                <a:solidFill>
                  <a:srgbClr val="FFFFFF"/>
                </a:solidFill>
              </a:rPr>
              <a:t>2</a:t>
            </a:r>
            <a:endParaRPr lang="en-US" sz="1400" dirty="0"/>
          </a:p>
        </p:txBody>
      </p:sp>
      <p:sp>
        <p:nvSpPr>
          <p:cNvPr id="16" name="Text 13"/>
          <p:cNvSpPr/>
          <p:nvPr/>
        </p:nvSpPr>
        <p:spPr>
          <a:xfrm>
            <a:off x="1005840" y="2761488"/>
            <a:ext cx="5303520" cy="329184"/>
          </a:xfrm>
          <a:prstGeom prst="rect">
            <a:avLst/>
          </a:prstGeom>
          <a:noFill/>
          <a:ln/>
        </p:spPr>
        <p:txBody>
          <a:bodyPr wrap="square" rtlCol="0" anchor="ctr"/>
          <a:lstStyle/>
          <a:p>
            <a:pPr marL="0" indent="0">
              <a:buNone/>
            </a:pPr>
            <a:r>
              <a:rPr lang="en-US" sz="1250" b="1" dirty="0">
                <a:solidFill>
                  <a:srgbClr val="0A2E1A"/>
                </a:solidFill>
              </a:rPr>
              <a:t>Historical Average for Future Dates</a:t>
            </a:r>
            <a:endParaRPr lang="en-US" sz="1250" dirty="0"/>
          </a:p>
        </p:txBody>
      </p:sp>
      <p:sp>
        <p:nvSpPr>
          <p:cNvPr id="17" name="Text 14"/>
          <p:cNvSpPr/>
          <p:nvPr/>
        </p:nvSpPr>
        <p:spPr>
          <a:xfrm>
            <a:off x="1005840" y="3099816"/>
            <a:ext cx="5303520" cy="658368"/>
          </a:xfrm>
          <a:prstGeom prst="rect">
            <a:avLst/>
          </a:prstGeom>
          <a:noFill/>
          <a:ln/>
        </p:spPr>
        <p:txBody>
          <a:bodyPr wrap="square" rtlCol="0" anchor="ctr"/>
          <a:lstStyle/>
          <a:p>
            <a:pPr marL="0" indent="0">
              <a:buNone/>
            </a:pPr>
            <a:r>
              <a:rPr lang="en-US" sz="1050" dirty="0">
                <a:solidFill>
                  <a:srgbClr val="374151"/>
                </a:solidFill>
              </a:rPr>
              <a:t>For harvest dates beyond 14 days (e.g., planning July production in May), we use the historical average rainfall for that month from our dataset. This is clearly shown to the user on the interface.</a:t>
            </a:r>
            <a:endParaRPr lang="en-US" sz="1050" dirty="0"/>
          </a:p>
        </p:txBody>
      </p:sp>
      <p:sp>
        <p:nvSpPr>
          <p:cNvPr id="18" name="Shape 15"/>
          <p:cNvSpPr/>
          <p:nvPr/>
        </p:nvSpPr>
        <p:spPr>
          <a:xfrm>
            <a:off x="365760" y="3968496"/>
            <a:ext cx="6080760" cy="1170432"/>
          </a:xfrm>
          <a:prstGeom prst="rect">
            <a:avLst/>
          </a:prstGeom>
          <a:solidFill>
            <a:srgbClr val="FFFFFF"/>
          </a:solidFill>
          <a:ln/>
          <a:effectLst>
            <a:outerShdw blurRad="101600" dist="38100" dir="8100000" algn="bl" rotWithShape="0">
              <a:srgbClr val="000000">
                <a:alpha val="18000"/>
              </a:srgbClr>
            </a:outerShdw>
          </a:effectLst>
        </p:spPr>
      </p:sp>
      <p:sp>
        <p:nvSpPr>
          <p:cNvPr id="19" name="Shape 16"/>
          <p:cNvSpPr/>
          <p:nvPr/>
        </p:nvSpPr>
        <p:spPr>
          <a:xfrm>
            <a:off x="411480" y="4224528"/>
            <a:ext cx="475488" cy="475488"/>
          </a:xfrm>
          <a:prstGeom prst="ellipse">
            <a:avLst/>
          </a:prstGeom>
          <a:solidFill>
            <a:srgbClr val="3B82F6"/>
          </a:solidFill>
          <a:ln/>
        </p:spPr>
      </p:sp>
      <p:sp>
        <p:nvSpPr>
          <p:cNvPr id="20" name="Text 17"/>
          <p:cNvSpPr/>
          <p:nvPr/>
        </p:nvSpPr>
        <p:spPr>
          <a:xfrm>
            <a:off x="411480" y="4224528"/>
            <a:ext cx="475488" cy="475488"/>
          </a:xfrm>
          <a:prstGeom prst="rect">
            <a:avLst/>
          </a:prstGeom>
          <a:noFill/>
          <a:ln/>
        </p:spPr>
        <p:txBody>
          <a:bodyPr wrap="square" rtlCol="0" anchor="ctr"/>
          <a:lstStyle/>
          <a:p>
            <a:pPr marL="0" indent="0" algn="ctr">
              <a:buNone/>
            </a:pPr>
            <a:r>
              <a:rPr lang="en-US" sz="1400" b="1" dirty="0">
                <a:solidFill>
                  <a:srgbClr val="FFFFFF"/>
                </a:solidFill>
              </a:rPr>
              <a:t>3</a:t>
            </a:r>
            <a:endParaRPr lang="en-US" sz="1400" dirty="0"/>
          </a:p>
        </p:txBody>
      </p:sp>
      <p:sp>
        <p:nvSpPr>
          <p:cNvPr id="21" name="Text 18"/>
          <p:cNvSpPr/>
          <p:nvPr/>
        </p:nvSpPr>
        <p:spPr>
          <a:xfrm>
            <a:off x="1005840" y="4059936"/>
            <a:ext cx="5303520" cy="329184"/>
          </a:xfrm>
          <a:prstGeom prst="rect">
            <a:avLst/>
          </a:prstGeom>
          <a:noFill/>
          <a:ln/>
        </p:spPr>
        <p:txBody>
          <a:bodyPr wrap="square" rtlCol="0" anchor="ctr"/>
          <a:lstStyle/>
          <a:p>
            <a:pPr marL="0" indent="0">
              <a:buNone/>
            </a:pPr>
            <a:r>
              <a:rPr lang="en-US" sz="1250" b="1" dirty="0">
                <a:solidFill>
                  <a:srgbClr val="0A2E1A"/>
                </a:solidFill>
              </a:rPr>
              <a:t>Rainfall Source Disclosed to User</a:t>
            </a:r>
            <a:endParaRPr lang="en-US" sz="1250" dirty="0"/>
          </a:p>
        </p:txBody>
      </p:sp>
      <p:sp>
        <p:nvSpPr>
          <p:cNvPr id="22" name="Text 19"/>
          <p:cNvSpPr/>
          <p:nvPr/>
        </p:nvSpPr>
        <p:spPr>
          <a:xfrm>
            <a:off x="1005840" y="4398264"/>
            <a:ext cx="5303520" cy="658368"/>
          </a:xfrm>
          <a:prstGeom prst="rect">
            <a:avLst/>
          </a:prstGeom>
          <a:noFill/>
          <a:ln/>
        </p:spPr>
        <p:txBody>
          <a:bodyPr wrap="square" rtlCol="0" anchor="ctr"/>
          <a:lstStyle/>
          <a:p>
            <a:pPr marL="0" indent="0">
              <a:buNone/>
            </a:pPr>
            <a:r>
              <a:rPr lang="en-US" sz="1050" dirty="0">
                <a:solidFill>
                  <a:srgbClr val="374151"/>
                </a:solidFill>
              </a:rPr>
              <a:t>The interface explicitly informs the farmer whether live forecast data or historical averages are being used — building trust and transparency into the system.</a:t>
            </a:r>
            <a:endParaRPr lang="en-US" sz="1050" dirty="0"/>
          </a:p>
        </p:txBody>
      </p:sp>
      <p:sp>
        <p:nvSpPr>
          <p:cNvPr id="23" name="Shape 20"/>
          <p:cNvSpPr/>
          <p:nvPr/>
        </p:nvSpPr>
        <p:spPr>
          <a:xfrm>
            <a:off x="365760" y="5266944"/>
            <a:ext cx="6080760" cy="1170432"/>
          </a:xfrm>
          <a:prstGeom prst="rect">
            <a:avLst/>
          </a:prstGeom>
          <a:solidFill>
            <a:srgbClr val="FFFFFF"/>
          </a:solidFill>
          <a:ln/>
          <a:effectLst>
            <a:outerShdw blurRad="101600" dist="38100" dir="8100000" algn="bl" rotWithShape="0">
              <a:srgbClr val="000000">
                <a:alpha val="18000"/>
              </a:srgbClr>
            </a:outerShdw>
          </a:effectLst>
        </p:spPr>
      </p:sp>
      <p:sp>
        <p:nvSpPr>
          <p:cNvPr id="24" name="Shape 21"/>
          <p:cNvSpPr/>
          <p:nvPr/>
        </p:nvSpPr>
        <p:spPr>
          <a:xfrm>
            <a:off x="411480" y="5522976"/>
            <a:ext cx="475488" cy="475488"/>
          </a:xfrm>
          <a:prstGeom prst="ellipse">
            <a:avLst/>
          </a:prstGeom>
          <a:solidFill>
            <a:srgbClr val="F97316"/>
          </a:solidFill>
          <a:ln/>
        </p:spPr>
      </p:sp>
      <p:sp>
        <p:nvSpPr>
          <p:cNvPr id="25" name="Text 22"/>
          <p:cNvSpPr/>
          <p:nvPr/>
        </p:nvSpPr>
        <p:spPr>
          <a:xfrm>
            <a:off x="411480" y="5522976"/>
            <a:ext cx="475488" cy="475488"/>
          </a:xfrm>
          <a:prstGeom prst="rect">
            <a:avLst/>
          </a:prstGeom>
          <a:noFill/>
          <a:ln/>
        </p:spPr>
        <p:txBody>
          <a:bodyPr wrap="square" rtlCol="0" anchor="ctr"/>
          <a:lstStyle/>
          <a:p>
            <a:pPr marL="0" indent="0" algn="ctr">
              <a:buNone/>
            </a:pPr>
            <a:r>
              <a:rPr lang="en-US" sz="1400" b="1" dirty="0">
                <a:solidFill>
                  <a:srgbClr val="FFFFFF"/>
                </a:solidFill>
              </a:rPr>
              <a:t>4</a:t>
            </a:r>
            <a:endParaRPr lang="en-US" sz="1400" dirty="0"/>
          </a:p>
        </p:txBody>
      </p:sp>
      <p:sp>
        <p:nvSpPr>
          <p:cNvPr id="26" name="Text 23"/>
          <p:cNvSpPr/>
          <p:nvPr/>
        </p:nvSpPr>
        <p:spPr>
          <a:xfrm>
            <a:off x="1005840" y="5358384"/>
            <a:ext cx="5303520" cy="329184"/>
          </a:xfrm>
          <a:prstGeom prst="rect">
            <a:avLst/>
          </a:prstGeom>
          <a:noFill/>
          <a:ln/>
        </p:spPr>
        <p:txBody>
          <a:bodyPr wrap="square" rtlCol="0" anchor="ctr"/>
          <a:lstStyle/>
          <a:p>
            <a:pPr marL="0" indent="0">
              <a:buNone/>
            </a:pPr>
            <a:r>
              <a:rPr lang="en-US" sz="1250" b="1" dirty="0">
                <a:solidFill>
                  <a:srgbClr val="0A2E1A"/>
                </a:solidFill>
              </a:rPr>
              <a:t>Model Now Performing Accurately</a:t>
            </a:r>
            <a:endParaRPr lang="en-US" sz="1250" dirty="0"/>
          </a:p>
        </p:txBody>
      </p:sp>
      <p:sp>
        <p:nvSpPr>
          <p:cNvPr id="27" name="Text 24"/>
          <p:cNvSpPr/>
          <p:nvPr/>
        </p:nvSpPr>
        <p:spPr>
          <a:xfrm>
            <a:off x="1005840" y="5696712"/>
            <a:ext cx="5303520" cy="658368"/>
          </a:xfrm>
          <a:prstGeom prst="rect">
            <a:avLst/>
          </a:prstGeom>
          <a:noFill/>
          <a:ln/>
        </p:spPr>
        <p:txBody>
          <a:bodyPr wrap="square" rtlCol="0" anchor="ctr"/>
          <a:lstStyle/>
          <a:p>
            <a:pPr marL="0" indent="0">
              <a:buNone/>
            </a:pPr>
            <a:r>
              <a:rPr lang="en-US" sz="1050" dirty="0">
                <a:solidFill>
                  <a:srgbClr val="374151"/>
                </a:solidFill>
              </a:rPr>
              <a:t>With Harvest Date correctly feeding rainfall and seasonal features, prediction accuracy improved substantially. The core technical challenge has been solved.</a:t>
            </a:r>
            <a:endParaRPr lang="en-US" sz="1050" dirty="0"/>
          </a:p>
        </p:txBody>
      </p:sp>
      <p:sp>
        <p:nvSpPr>
          <p:cNvPr id="28" name="Shape 25"/>
          <p:cNvSpPr/>
          <p:nvPr/>
        </p:nvSpPr>
        <p:spPr>
          <a:xfrm>
            <a:off x="365760" y="6492240"/>
            <a:ext cx="6080760" cy="201168"/>
          </a:xfrm>
          <a:prstGeom prst="rect">
            <a:avLst/>
          </a:prstGeom>
          <a:solidFill>
            <a:srgbClr val="DCFCE7"/>
          </a:solidFill>
          <a:ln/>
        </p:spPr>
      </p:sp>
      <p:sp>
        <p:nvSpPr>
          <p:cNvPr id="29" name="Shape 26"/>
          <p:cNvSpPr/>
          <p:nvPr/>
        </p:nvSpPr>
        <p:spPr>
          <a:xfrm>
            <a:off x="365760" y="6492240"/>
            <a:ext cx="45720" cy="201168"/>
          </a:xfrm>
          <a:prstGeom prst="rect">
            <a:avLst/>
          </a:prstGeom>
          <a:solidFill>
            <a:srgbClr val="16A34A"/>
          </a:solidFill>
          <a:ln/>
        </p:spPr>
      </p:sp>
      <p:sp>
        <p:nvSpPr>
          <p:cNvPr id="30" name="Text 27"/>
          <p:cNvSpPr/>
          <p:nvPr/>
        </p:nvSpPr>
        <p:spPr>
          <a:xfrm>
            <a:off x="502920" y="6492240"/>
            <a:ext cx="5852160" cy="201168"/>
          </a:xfrm>
          <a:prstGeom prst="rect">
            <a:avLst/>
          </a:prstGeom>
          <a:noFill/>
          <a:ln/>
        </p:spPr>
        <p:txBody>
          <a:bodyPr wrap="square" rtlCol="0" anchor="ctr"/>
          <a:lstStyle/>
          <a:p>
            <a:pPr marL="0" indent="0">
              <a:buNone/>
            </a:pPr>
            <a:r>
              <a:rPr lang="en-US" sz="900" dirty="0">
                <a:solidFill>
                  <a:srgbClr val="166534"/>
                </a:solidFill>
              </a:rPr>
              <a:t>Future: Model accuracy will improve further with real-time Agmarknet data and CatBoost/XGBoost ensemble optimisation.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E1A"/>
        </a:solidFill>
        <a:effectLst/>
      </p:bgPr>
    </p:bg>
    <p:spTree>
      <p:nvGrpSpPr>
        <p:cNvPr id="1" name=""/>
        <p:cNvGrpSpPr/>
        <p:nvPr/>
      </p:nvGrpSpPr>
      <p:grpSpPr>
        <a:xfrm>
          <a:off x="0" y="0"/>
          <a:ext cx="0" cy="0"/>
          <a:chOff x="0" y="0"/>
          <a:chExt cx="0" cy="0"/>
        </a:xfrm>
      </p:grpSpPr>
      <p:sp>
        <p:nvSpPr>
          <p:cNvPr id="2" name="Shape 0"/>
          <p:cNvSpPr/>
          <p:nvPr/>
        </p:nvSpPr>
        <p:spPr>
          <a:xfrm>
            <a:off x="365760" y="228600"/>
            <a:ext cx="2011680" cy="347472"/>
          </a:xfrm>
          <a:prstGeom prst="roundRect">
            <a:avLst>
              <a:gd name="adj" fmla="val 13158"/>
            </a:avLst>
          </a:prstGeom>
          <a:solidFill>
            <a:srgbClr val="EF4444"/>
          </a:solidFill>
          <a:ln/>
          <a:effectLst>
            <a:outerShdw blurRad="101600" dist="38100" dir="8100000" algn="bl" rotWithShape="0">
              <a:srgbClr val="000000">
                <a:alpha val="18000"/>
              </a:srgbClr>
            </a:outerShdw>
          </a:effectLst>
        </p:spPr>
      </p:sp>
      <p:sp>
        <p:nvSpPr>
          <p:cNvPr id="3" name="Text 1"/>
          <p:cNvSpPr/>
          <p:nvPr/>
        </p:nvSpPr>
        <p:spPr>
          <a:xfrm>
            <a:off x="365760" y="228600"/>
            <a:ext cx="2011680" cy="347472"/>
          </a:xfrm>
          <a:prstGeom prst="rect">
            <a:avLst/>
          </a:prstGeom>
          <a:noFill/>
          <a:ln/>
        </p:spPr>
        <p:txBody>
          <a:bodyPr wrap="square" rtlCol="0" anchor="ctr"/>
          <a:lstStyle/>
          <a:p>
            <a:pPr marL="0" indent="0" algn="ctr">
              <a:buNone/>
            </a:pPr>
            <a:r>
              <a:rPr lang="en-US" sz="1000" b="1" dirty="0">
                <a:solidFill>
                  <a:srgbClr val="FFFFFF"/>
                </a:solidFill>
              </a:rPr>
              <a:t>08  THE BIGGEST CHALLENGE</a:t>
            </a:r>
            <a:endParaRPr lang="en-US" sz="1000" dirty="0"/>
          </a:p>
        </p:txBody>
      </p:sp>
      <p:sp>
        <p:nvSpPr>
          <p:cNvPr id="4" name="Text 2"/>
          <p:cNvSpPr/>
          <p:nvPr/>
        </p:nvSpPr>
        <p:spPr>
          <a:xfrm>
            <a:off x="365760" y="640080"/>
            <a:ext cx="11430000" cy="594360"/>
          </a:xfrm>
          <a:prstGeom prst="rect">
            <a:avLst/>
          </a:prstGeom>
          <a:noFill/>
          <a:ln/>
        </p:spPr>
        <p:txBody>
          <a:bodyPr wrap="square" rtlCol="0" anchor="ctr"/>
          <a:lstStyle/>
          <a:p>
            <a:pPr marL="0" indent="0">
              <a:buNone/>
            </a:pPr>
            <a:r>
              <a:rPr lang="en-US" sz="2600" b="1" dirty="0">
                <a:solidFill>
                  <a:srgbClr val="F59E0B"/>
                </a:solidFill>
                <a:latin typeface="Georgia" pitchFamily="34" charset="0"/>
                <a:ea typeface="Georgia" pitchFamily="34" charset="-122"/>
                <a:cs typeface="Georgia" pitchFamily="34" charset="-120"/>
              </a:rPr>
              <a:t>How Will Farmers Actually Know About This App?</a:t>
            </a:r>
            <a:endParaRPr lang="en-US" sz="2600" dirty="0"/>
          </a:p>
        </p:txBody>
      </p:sp>
      <p:sp>
        <p:nvSpPr>
          <p:cNvPr id="5" name="Shape 3"/>
          <p:cNvSpPr/>
          <p:nvPr/>
        </p:nvSpPr>
        <p:spPr>
          <a:xfrm>
            <a:off x="365760" y="1353312"/>
            <a:ext cx="11430000" cy="713232"/>
          </a:xfrm>
          <a:prstGeom prst="rect">
            <a:avLst/>
          </a:prstGeom>
          <a:solidFill>
            <a:srgbClr val="EF4444">
              <a:alpha val="85000"/>
            </a:srgbClr>
          </a:solidFill>
          <a:ln/>
          <a:effectLst>
            <a:outerShdw blurRad="101600" dist="38100" dir="8100000" algn="bl" rotWithShape="0">
              <a:srgbClr val="000000">
                <a:alpha val="18000"/>
              </a:srgbClr>
            </a:outerShdw>
          </a:effectLst>
        </p:spPr>
      </p:sp>
      <p:sp>
        <p:nvSpPr>
          <p:cNvPr id="6" name="Text 4"/>
          <p:cNvSpPr/>
          <p:nvPr/>
        </p:nvSpPr>
        <p:spPr>
          <a:xfrm>
            <a:off x="548640" y="1353312"/>
            <a:ext cx="11064240" cy="713232"/>
          </a:xfrm>
          <a:prstGeom prst="rect">
            <a:avLst/>
          </a:prstGeom>
          <a:noFill/>
          <a:ln/>
        </p:spPr>
        <p:txBody>
          <a:bodyPr wrap="square" rtlCol="0" anchor="ctr"/>
          <a:lstStyle/>
          <a:p>
            <a:pPr marL="0" indent="0" algn="ctr">
              <a:buNone/>
            </a:pPr>
            <a:r>
              <a:rPr lang="en-US" sz="1200" b="1" dirty="0">
                <a:solidFill>
                  <a:srgbClr val="FFFFFF"/>
                </a:solidFill>
              </a:rPr>
              <a:t>Only 45% of rural India has smartphone access  ·  Over 60% of farmers above 50 have never used an app  ·  A "download our app" strategy reaches the wrong people</a:t>
            </a:r>
            <a:endParaRPr lang="en-US" sz="1200" dirty="0"/>
          </a:p>
        </p:txBody>
      </p:sp>
      <p:sp>
        <p:nvSpPr>
          <p:cNvPr id="7" name="Shape 5"/>
          <p:cNvSpPr/>
          <p:nvPr/>
        </p:nvSpPr>
        <p:spPr>
          <a:xfrm>
            <a:off x="365760" y="2212848"/>
            <a:ext cx="2103120" cy="4315968"/>
          </a:xfrm>
          <a:prstGeom prst="rect">
            <a:avLst/>
          </a:prstGeom>
          <a:solidFill>
            <a:srgbClr val="14532D"/>
          </a:solidFill>
          <a:ln/>
          <a:effectLst>
            <a:outerShdw blurRad="101600" dist="38100" dir="8100000" algn="bl" rotWithShape="0">
              <a:srgbClr val="000000">
                <a:alpha val="18000"/>
              </a:srgbClr>
            </a:outerShdw>
          </a:effectLst>
        </p:spPr>
      </p:sp>
      <p:sp>
        <p:nvSpPr>
          <p:cNvPr id="8" name="Shape 6"/>
          <p:cNvSpPr/>
          <p:nvPr/>
        </p:nvSpPr>
        <p:spPr>
          <a:xfrm>
            <a:off x="365760" y="2212848"/>
            <a:ext cx="2103120" cy="54864"/>
          </a:xfrm>
          <a:prstGeom prst="rect">
            <a:avLst/>
          </a:prstGeom>
          <a:solidFill>
            <a:srgbClr val="16A34A"/>
          </a:solidFill>
          <a:ln/>
        </p:spPr>
      </p:sp>
      <p:sp>
        <p:nvSpPr>
          <p:cNvPr id="9" name="Text 7"/>
          <p:cNvSpPr/>
          <p:nvPr/>
        </p:nvSpPr>
        <p:spPr>
          <a:xfrm>
            <a:off x="365760" y="2331720"/>
            <a:ext cx="2103120" cy="59436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0" name="Shape 8"/>
          <p:cNvSpPr/>
          <p:nvPr/>
        </p:nvSpPr>
        <p:spPr>
          <a:xfrm>
            <a:off x="502920" y="2944368"/>
            <a:ext cx="1828800" cy="36576"/>
          </a:xfrm>
          <a:prstGeom prst="rect">
            <a:avLst/>
          </a:prstGeom>
          <a:solidFill>
            <a:srgbClr val="16A34A">
              <a:alpha val="60000"/>
            </a:srgbClr>
          </a:solidFill>
          <a:ln/>
        </p:spPr>
      </p:sp>
      <p:sp>
        <p:nvSpPr>
          <p:cNvPr id="11" name="Text 9"/>
          <p:cNvSpPr/>
          <p:nvPr/>
        </p:nvSpPr>
        <p:spPr>
          <a:xfrm>
            <a:off x="457200" y="3017520"/>
            <a:ext cx="1920240" cy="502920"/>
          </a:xfrm>
          <a:prstGeom prst="rect">
            <a:avLst/>
          </a:prstGeom>
          <a:noFill/>
          <a:ln/>
        </p:spPr>
        <p:txBody>
          <a:bodyPr wrap="square" rtlCol="0" anchor="ctr"/>
          <a:lstStyle/>
          <a:p>
            <a:pPr marL="0" indent="0">
              <a:buNone/>
            </a:pPr>
            <a:r>
              <a:rPr lang="en-US" sz="1200" b="1" dirty="0">
                <a:solidFill>
                  <a:srgbClr val="16A34A"/>
                </a:solidFill>
              </a:rPr>
              <a:t>Missed Call + SMS</a:t>
            </a:r>
            <a:endParaRPr lang="en-US" sz="1200" dirty="0"/>
          </a:p>
        </p:txBody>
      </p:sp>
      <p:sp>
        <p:nvSpPr>
          <p:cNvPr id="12" name="Text 10"/>
          <p:cNvSpPr/>
          <p:nvPr/>
        </p:nvSpPr>
        <p:spPr>
          <a:xfrm>
            <a:off x="457200" y="3547872"/>
            <a:ext cx="1920240" cy="2834640"/>
          </a:xfrm>
          <a:prstGeom prst="rect">
            <a:avLst/>
          </a:prstGeom>
          <a:noFill/>
          <a:ln/>
        </p:spPr>
        <p:txBody>
          <a:bodyPr wrap="square" rtlCol="0" anchor="ctr"/>
          <a:lstStyle/>
          <a:p>
            <a:pPr marL="0" indent="0">
              <a:buNone/>
            </a:pPr>
            <a:r>
              <a:rPr lang="en-US" sz="950" dirty="0">
                <a:solidFill>
                  <a:srgbClr val="A7F3D0"/>
                </a:solidFill>
              </a:rPr>
              <a:t>Farmer calls a number → system detects district via telecom data → sends back SMS forecast in local language. Works on any ₹500 keypad phone. No internet required.</a:t>
            </a:r>
            <a:endParaRPr lang="en-US" sz="950" dirty="0"/>
          </a:p>
        </p:txBody>
      </p:sp>
      <p:sp>
        <p:nvSpPr>
          <p:cNvPr id="13" name="Shape 11"/>
          <p:cNvSpPr/>
          <p:nvPr/>
        </p:nvSpPr>
        <p:spPr>
          <a:xfrm>
            <a:off x="2651760" y="2212848"/>
            <a:ext cx="2103120" cy="4315968"/>
          </a:xfrm>
          <a:prstGeom prst="rect">
            <a:avLst/>
          </a:prstGeom>
          <a:solidFill>
            <a:srgbClr val="14532D"/>
          </a:solidFill>
          <a:ln/>
          <a:effectLst>
            <a:outerShdw blurRad="101600" dist="38100" dir="8100000" algn="bl" rotWithShape="0">
              <a:srgbClr val="000000">
                <a:alpha val="18000"/>
              </a:srgbClr>
            </a:outerShdw>
          </a:effectLst>
        </p:spPr>
      </p:sp>
      <p:sp>
        <p:nvSpPr>
          <p:cNvPr id="14" name="Shape 12"/>
          <p:cNvSpPr/>
          <p:nvPr/>
        </p:nvSpPr>
        <p:spPr>
          <a:xfrm>
            <a:off x="2651760" y="2212848"/>
            <a:ext cx="2103120" cy="54864"/>
          </a:xfrm>
          <a:prstGeom prst="rect">
            <a:avLst/>
          </a:prstGeom>
          <a:solidFill>
            <a:srgbClr val="3B82F6"/>
          </a:solidFill>
          <a:ln/>
        </p:spPr>
      </p:sp>
      <p:sp>
        <p:nvSpPr>
          <p:cNvPr id="15" name="Text 13"/>
          <p:cNvSpPr/>
          <p:nvPr/>
        </p:nvSpPr>
        <p:spPr>
          <a:xfrm>
            <a:off x="2651760" y="2331720"/>
            <a:ext cx="2103120" cy="59436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6" name="Shape 14"/>
          <p:cNvSpPr/>
          <p:nvPr/>
        </p:nvSpPr>
        <p:spPr>
          <a:xfrm>
            <a:off x="2788920" y="2944368"/>
            <a:ext cx="1828800" cy="36576"/>
          </a:xfrm>
          <a:prstGeom prst="rect">
            <a:avLst/>
          </a:prstGeom>
          <a:solidFill>
            <a:srgbClr val="3B82F6">
              <a:alpha val="60000"/>
            </a:srgbClr>
          </a:solidFill>
          <a:ln/>
        </p:spPr>
      </p:sp>
      <p:sp>
        <p:nvSpPr>
          <p:cNvPr id="17" name="Text 15"/>
          <p:cNvSpPr/>
          <p:nvPr/>
        </p:nvSpPr>
        <p:spPr>
          <a:xfrm>
            <a:off x="2743200" y="3017520"/>
            <a:ext cx="1920240" cy="502920"/>
          </a:xfrm>
          <a:prstGeom prst="rect">
            <a:avLst/>
          </a:prstGeom>
          <a:noFill/>
          <a:ln/>
        </p:spPr>
        <p:txBody>
          <a:bodyPr wrap="square" rtlCol="0" anchor="ctr"/>
          <a:lstStyle/>
          <a:p>
            <a:pPr marL="0" indent="0">
              <a:buNone/>
            </a:pPr>
            <a:r>
              <a:rPr lang="en-US" sz="1200" b="1" dirty="0">
                <a:solidFill>
                  <a:srgbClr val="3B82F6"/>
                </a:solidFill>
              </a:rPr>
              <a:t>WhatsApp Chatbot</a:t>
            </a:r>
            <a:endParaRPr lang="en-US" sz="1200" dirty="0"/>
          </a:p>
        </p:txBody>
      </p:sp>
      <p:sp>
        <p:nvSpPr>
          <p:cNvPr id="18" name="Text 16"/>
          <p:cNvSpPr/>
          <p:nvPr/>
        </p:nvSpPr>
        <p:spPr>
          <a:xfrm>
            <a:off x="2743200" y="3547872"/>
            <a:ext cx="1920240" cy="2834640"/>
          </a:xfrm>
          <a:prstGeom prst="rect">
            <a:avLst/>
          </a:prstGeom>
          <a:noFill/>
          <a:ln/>
        </p:spPr>
        <p:txBody>
          <a:bodyPr wrap="square" rtlCol="0" anchor="ctr"/>
          <a:lstStyle/>
          <a:p>
            <a:pPr marL="0" indent="0">
              <a:buNone/>
            </a:pPr>
            <a:r>
              <a:rPr lang="en-US" sz="950" dirty="0">
                <a:solidFill>
                  <a:srgbClr val="A7F3D0"/>
                </a:solidFill>
              </a:rPr>
              <a:t>Farmer types crop name or sends a voice message on WhatsApp. Bot replies with price prediction. 70%+ of rural India uses WhatsApp — voice removes the literacy barrier.</a:t>
            </a:r>
            <a:endParaRPr lang="en-US" sz="950" dirty="0"/>
          </a:p>
        </p:txBody>
      </p:sp>
      <p:sp>
        <p:nvSpPr>
          <p:cNvPr id="19" name="Shape 17"/>
          <p:cNvSpPr/>
          <p:nvPr/>
        </p:nvSpPr>
        <p:spPr>
          <a:xfrm>
            <a:off x="4937760" y="2212848"/>
            <a:ext cx="2103120" cy="4315968"/>
          </a:xfrm>
          <a:prstGeom prst="rect">
            <a:avLst/>
          </a:prstGeom>
          <a:solidFill>
            <a:srgbClr val="14532D"/>
          </a:solidFill>
          <a:ln/>
          <a:effectLst>
            <a:outerShdw blurRad="101600" dist="38100" dir="8100000" algn="bl" rotWithShape="0">
              <a:srgbClr val="000000">
                <a:alpha val="18000"/>
              </a:srgbClr>
            </a:outerShdw>
          </a:effectLst>
        </p:spPr>
      </p:sp>
      <p:sp>
        <p:nvSpPr>
          <p:cNvPr id="20" name="Shape 18"/>
          <p:cNvSpPr/>
          <p:nvPr/>
        </p:nvSpPr>
        <p:spPr>
          <a:xfrm>
            <a:off x="4937760" y="2212848"/>
            <a:ext cx="2103120" cy="54864"/>
          </a:xfrm>
          <a:prstGeom prst="rect">
            <a:avLst/>
          </a:prstGeom>
          <a:solidFill>
            <a:srgbClr val="F59E0B"/>
          </a:solidFill>
          <a:ln/>
        </p:spPr>
      </p:sp>
      <p:sp>
        <p:nvSpPr>
          <p:cNvPr id="21" name="Text 19"/>
          <p:cNvSpPr/>
          <p:nvPr/>
        </p:nvSpPr>
        <p:spPr>
          <a:xfrm>
            <a:off x="4937760" y="2331720"/>
            <a:ext cx="2103120" cy="59436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22" name="Shape 20"/>
          <p:cNvSpPr/>
          <p:nvPr/>
        </p:nvSpPr>
        <p:spPr>
          <a:xfrm>
            <a:off x="5074920" y="2944368"/>
            <a:ext cx="1828800" cy="36576"/>
          </a:xfrm>
          <a:prstGeom prst="rect">
            <a:avLst/>
          </a:prstGeom>
          <a:solidFill>
            <a:srgbClr val="F59E0B">
              <a:alpha val="60000"/>
            </a:srgbClr>
          </a:solidFill>
          <a:ln/>
        </p:spPr>
      </p:sp>
      <p:sp>
        <p:nvSpPr>
          <p:cNvPr id="23" name="Text 21"/>
          <p:cNvSpPr/>
          <p:nvPr/>
        </p:nvSpPr>
        <p:spPr>
          <a:xfrm>
            <a:off x="5029200" y="3017520"/>
            <a:ext cx="1920240" cy="502920"/>
          </a:xfrm>
          <a:prstGeom prst="rect">
            <a:avLst/>
          </a:prstGeom>
          <a:noFill/>
          <a:ln/>
        </p:spPr>
        <p:txBody>
          <a:bodyPr wrap="square" rtlCol="0" anchor="ctr"/>
          <a:lstStyle/>
          <a:p>
            <a:pPr marL="0" indent="0">
              <a:buNone/>
            </a:pPr>
            <a:r>
              <a:rPr lang="en-US" sz="1200" b="1" dirty="0">
                <a:solidFill>
                  <a:srgbClr val="F59E0B"/>
                </a:solidFill>
              </a:rPr>
              <a:t>Mandi Notice Board</a:t>
            </a:r>
            <a:endParaRPr lang="en-US" sz="1200" dirty="0"/>
          </a:p>
        </p:txBody>
      </p:sp>
      <p:sp>
        <p:nvSpPr>
          <p:cNvPr id="24" name="Text 22"/>
          <p:cNvSpPr/>
          <p:nvPr/>
        </p:nvSpPr>
        <p:spPr>
          <a:xfrm>
            <a:off x="5029200" y="3547872"/>
            <a:ext cx="1920240" cy="2834640"/>
          </a:xfrm>
          <a:prstGeom prst="rect">
            <a:avLst/>
          </a:prstGeom>
          <a:noFill/>
          <a:ln/>
        </p:spPr>
        <p:txBody>
          <a:bodyPr wrap="square" rtlCol="0" anchor="ctr"/>
          <a:lstStyle/>
          <a:p>
            <a:pPr marL="0" indent="0">
              <a:buNone/>
            </a:pPr>
            <a:r>
              <a:rPr lang="en-US" sz="950" dirty="0">
                <a:solidFill>
                  <a:srgbClr val="A7F3D0"/>
                </a:solidFill>
              </a:rPr>
              <a:t>Weekly forecast sheet auto-printed at local mandi offices and CSC centres. 5 lakh+ CSC centres across India. One person reads it → the entire village knows.</a:t>
            </a:r>
            <a:endParaRPr lang="en-US" sz="950" dirty="0"/>
          </a:p>
        </p:txBody>
      </p:sp>
      <p:sp>
        <p:nvSpPr>
          <p:cNvPr id="25" name="Shape 23"/>
          <p:cNvSpPr/>
          <p:nvPr/>
        </p:nvSpPr>
        <p:spPr>
          <a:xfrm>
            <a:off x="7223760" y="2212848"/>
            <a:ext cx="2103120" cy="4315968"/>
          </a:xfrm>
          <a:prstGeom prst="rect">
            <a:avLst/>
          </a:prstGeom>
          <a:solidFill>
            <a:srgbClr val="14532D"/>
          </a:solidFill>
          <a:ln/>
          <a:effectLst>
            <a:outerShdw blurRad="101600" dist="38100" dir="8100000" algn="bl" rotWithShape="0">
              <a:srgbClr val="000000">
                <a:alpha val="18000"/>
              </a:srgbClr>
            </a:outerShdw>
          </a:effectLst>
        </p:spPr>
      </p:sp>
      <p:sp>
        <p:nvSpPr>
          <p:cNvPr id="26" name="Shape 24"/>
          <p:cNvSpPr/>
          <p:nvPr/>
        </p:nvSpPr>
        <p:spPr>
          <a:xfrm>
            <a:off x="7223760" y="2212848"/>
            <a:ext cx="2103120" cy="54864"/>
          </a:xfrm>
          <a:prstGeom prst="rect">
            <a:avLst/>
          </a:prstGeom>
          <a:solidFill>
            <a:srgbClr val="A855F7"/>
          </a:solidFill>
          <a:ln/>
        </p:spPr>
      </p:sp>
      <p:sp>
        <p:nvSpPr>
          <p:cNvPr id="27" name="Text 25"/>
          <p:cNvSpPr/>
          <p:nvPr/>
        </p:nvSpPr>
        <p:spPr>
          <a:xfrm>
            <a:off x="7223760" y="2331720"/>
            <a:ext cx="2103120" cy="59436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28" name="Shape 26"/>
          <p:cNvSpPr/>
          <p:nvPr/>
        </p:nvSpPr>
        <p:spPr>
          <a:xfrm>
            <a:off x="7360920" y="2944368"/>
            <a:ext cx="1828800" cy="36576"/>
          </a:xfrm>
          <a:prstGeom prst="rect">
            <a:avLst/>
          </a:prstGeom>
          <a:solidFill>
            <a:srgbClr val="A855F7">
              <a:alpha val="60000"/>
            </a:srgbClr>
          </a:solidFill>
          <a:ln/>
        </p:spPr>
      </p:sp>
      <p:sp>
        <p:nvSpPr>
          <p:cNvPr id="29" name="Text 27"/>
          <p:cNvSpPr/>
          <p:nvPr/>
        </p:nvSpPr>
        <p:spPr>
          <a:xfrm>
            <a:off x="7315200" y="3017520"/>
            <a:ext cx="1920240" cy="502920"/>
          </a:xfrm>
          <a:prstGeom prst="rect">
            <a:avLst/>
          </a:prstGeom>
          <a:noFill/>
          <a:ln/>
        </p:spPr>
        <p:txBody>
          <a:bodyPr wrap="square" rtlCol="0" anchor="ctr"/>
          <a:lstStyle/>
          <a:p>
            <a:pPr marL="0" indent="0">
              <a:buNone/>
            </a:pPr>
            <a:r>
              <a:rPr lang="en-US" sz="1200" b="1" dirty="0">
                <a:solidFill>
                  <a:srgbClr val="A855F7"/>
                </a:solidFill>
              </a:rPr>
              <a:t>IVR Voice Call</a:t>
            </a:r>
            <a:endParaRPr lang="en-US" sz="1200" dirty="0"/>
          </a:p>
        </p:txBody>
      </p:sp>
      <p:sp>
        <p:nvSpPr>
          <p:cNvPr id="30" name="Text 28"/>
          <p:cNvSpPr/>
          <p:nvPr/>
        </p:nvSpPr>
        <p:spPr>
          <a:xfrm>
            <a:off x="7315200" y="3547872"/>
            <a:ext cx="1920240" cy="2834640"/>
          </a:xfrm>
          <a:prstGeom prst="rect">
            <a:avLst/>
          </a:prstGeom>
          <a:noFill/>
          <a:ln/>
        </p:spPr>
        <p:txBody>
          <a:bodyPr wrap="square" rtlCol="0" anchor="ctr"/>
          <a:lstStyle/>
          <a:p>
            <a:pPr marL="0" indent="0">
              <a:buNone/>
            </a:pPr>
            <a:r>
              <a:rPr lang="en-US" sz="950" dirty="0">
                <a:solidFill>
                  <a:srgbClr val="A7F3D0"/>
                </a:solidFill>
              </a:rPr>
              <a:t>Automated Monday call in Hindi/Odia/Bengali: "Kisanbhai, wait until Week 3 — price expected at ₹35/kg." Farmer just picks up the phone. Cost: ~₹0.10 per call.</a:t>
            </a:r>
            <a:endParaRPr lang="en-US" sz="950" dirty="0"/>
          </a:p>
        </p:txBody>
      </p:sp>
      <p:sp>
        <p:nvSpPr>
          <p:cNvPr id="31" name="Shape 29"/>
          <p:cNvSpPr/>
          <p:nvPr/>
        </p:nvSpPr>
        <p:spPr>
          <a:xfrm>
            <a:off x="9509760" y="2212848"/>
            <a:ext cx="2103120" cy="4315968"/>
          </a:xfrm>
          <a:prstGeom prst="rect">
            <a:avLst/>
          </a:prstGeom>
          <a:solidFill>
            <a:srgbClr val="14532D"/>
          </a:solidFill>
          <a:ln/>
          <a:effectLst>
            <a:outerShdw blurRad="101600" dist="38100" dir="8100000" algn="bl" rotWithShape="0">
              <a:srgbClr val="000000">
                <a:alpha val="18000"/>
              </a:srgbClr>
            </a:outerShdw>
          </a:effectLst>
        </p:spPr>
      </p:sp>
      <p:sp>
        <p:nvSpPr>
          <p:cNvPr id="32" name="Shape 30"/>
          <p:cNvSpPr/>
          <p:nvPr/>
        </p:nvSpPr>
        <p:spPr>
          <a:xfrm>
            <a:off x="9509760" y="2212848"/>
            <a:ext cx="2103120" cy="54864"/>
          </a:xfrm>
          <a:prstGeom prst="rect">
            <a:avLst/>
          </a:prstGeom>
          <a:solidFill>
            <a:srgbClr val="F97316"/>
          </a:solidFill>
          <a:ln/>
        </p:spPr>
      </p:sp>
      <p:sp>
        <p:nvSpPr>
          <p:cNvPr id="33" name="Text 31"/>
          <p:cNvSpPr/>
          <p:nvPr/>
        </p:nvSpPr>
        <p:spPr>
          <a:xfrm>
            <a:off x="9509760" y="2331720"/>
            <a:ext cx="2103120" cy="59436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34" name="Shape 32"/>
          <p:cNvSpPr/>
          <p:nvPr/>
        </p:nvSpPr>
        <p:spPr>
          <a:xfrm>
            <a:off x="9646920" y="2944368"/>
            <a:ext cx="1828800" cy="36576"/>
          </a:xfrm>
          <a:prstGeom prst="rect">
            <a:avLst/>
          </a:prstGeom>
          <a:solidFill>
            <a:srgbClr val="F97316">
              <a:alpha val="60000"/>
            </a:srgbClr>
          </a:solidFill>
          <a:ln/>
        </p:spPr>
      </p:sp>
      <p:sp>
        <p:nvSpPr>
          <p:cNvPr id="35" name="Text 33"/>
          <p:cNvSpPr/>
          <p:nvPr/>
        </p:nvSpPr>
        <p:spPr>
          <a:xfrm>
            <a:off x="9601200" y="3017520"/>
            <a:ext cx="1920240" cy="502920"/>
          </a:xfrm>
          <a:prstGeom prst="rect">
            <a:avLst/>
          </a:prstGeom>
          <a:noFill/>
          <a:ln/>
        </p:spPr>
        <p:txBody>
          <a:bodyPr wrap="square" rtlCol="0" anchor="ctr"/>
          <a:lstStyle/>
          <a:p>
            <a:pPr marL="0" indent="0">
              <a:buNone/>
            </a:pPr>
            <a:r>
              <a:rPr lang="en-US" sz="1200" b="1" dirty="0">
                <a:solidFill>
                  <a:srgbClr val="F97316"/>
                </a:solidFill>
              </a:rPr>
              <a:t>Krishi Mitra Worker</a:t>
            </a:r>
            <a:endParaRPr lang="en-US" sz="1200" dirty="0"/>
          </a:p>
        </p:txBody>
      </p:sp>
      <p:sp>
        <p:nvSpPr>
          <p:cNvPr id="36" name="Text 34"/>
          <p:cNvSpPr/>
          <p:nvPr/>
        </p:nvSpPr>
        <p:spPr>
          <a:xfrm>
            <a:off x="9601200" y="3547872"/>
            <a:ext cx="1920240" cy="2834640"/>
          </a:xfrm>
          <a:prstGeom prst="rect">
            <a:avLst/>
          </a:prstGeom>
          <a:noFill/>
          <a:ln/>
        </p:spPr>
        <p:txBody>
          <a:bodyPr wrap="square" rtlCol="0" anchor="ctr"/>
          <a:lstStyle/>
          <a:p>
            <a:pPr marL="0" indent="0">
              <a:buNone/>
            </a:pPr>
            <a:r>
              <a:rPr lang="en-US" sz="950" dirty="0">
                <a:solidFill>
                  <a:srgbClr val="A7F3D0"/>
                </a:solidFill>
              </a:rPr>
              <a:t>One trained extension worker per village uses the app and verbally informs 50 farmers. India already has KVKs and agri-extension workers in every block.</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1A0E"/>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14532D">
              <a:alpha val="35000"/>
            </a:srgbClr>
          </a:solidFill>
          <a:ln/>
        </p:spPr>
      </p:sp>
      <p:sp>
        <p:nvSpPr>
          <p:cNvPr id="3" name="Shape 1"/>
          <p:cNvSpPr/>
          <p:nvPr/>
        </p:nvSpPr>
        <p:spPr>
          <a:xfrm>
            <a:off x="9144000" y="3657600"/>
            <a:ext cx="4114800" cy="4114800"/>
          </a:xfrm>
          <a:prstGeom prst="ellipse">
            <a:avLst/>
          </a:prstGeom>
          <a:solidFill>
            <a:srgbClr val="F59E0B">
              <a:alpha val="20000"/>
            </a:srgbClr>
          </a:solidFill>
          <a:ln/>
        </p:spPr>
      </p:sp>
      <p:sp>
        <p:nvSpPr>
          <p:cNvPr id="4" name="Shape 2"/>
          <p:cNvSpPr/>
          <p:nvPr/>
        </p:nvSpPr>
        <p:spPr>
          <a:xfrm>
            <a:off x="8229600" y="-914400"/>
            <a:ext cx="2743200" cy="2743200"/>
          </a:xfrm>
          <a:prstGeom prst="ellipse">
            <a:avLst/>
          </a:prstGeom>
          <a:solidFill>
            <a:srgbClr val="166534">
              <a:alpha val="30000"/>
            </a:srgbClr>
          </a:solidFill>
          <a:ln/>
        </p:spPr>
      </p:sp>
      <p:sp>
        <p:nvSpPr>
          <p:cNvPr id="5" name="Shape 3"/>
          <p:cNvSpPr/>
          <p:nvPr/>
        </p:nvSpPr>
        <p:spPr>
          <a:xfrm>
            <a:off x="0" y="0"/>
            <a:ext cx="12161520" cy="73152"/>
          </a:xfrm>
          <a:prstGeom prst="rect">
            <a:avLst/>
          </a:prstGeom>
          <a:solidFill>
            <a:srgbClr val="F59E0B"/>
          </a:solidFill>
          <a:ln/>
        </p:spPr>
      </p:sp>
      <p:sp>
        <p:nvSpPr>
          <p:cNvPr id="6" name="Shape 4"/>
          <p:cNvSpPr/>
          <p:nvPr/>
        </p:nvSpPr>
        <p:spPr>
          <a:xfrm>
            <a:off x="0" y="6784848"/>
            <a:ext cx="12161520" cy="73152"/>
          </a:xfrm>
          <a:prstGeom prst="rect">
            <a:avLst/>
          </a:prstGeom>
          <a:solidFill>
            <a:srgbClr val="F59E0B"/>
          </a:solidFill>
          <a:ln/>
        </p:spPr>
      </p:sp>
      <p:sp>
        <p:nvSpPr>
          <p:cNvPr id="7" name="Text 5"/>
          <p:cNvSpPr/>
          <p:nvPr/>
        </p:nvSpPr>
        <p:spPr>
          <a:xfrm>
            <a:off x="0" y="548640"/>
            <a:ext cx="12161520" cy="1097280"/>
          </a:xfrm>
          <a:prstGeom prst="rect">
            <a:avLst/>
          </a:prstGeom>
          <a:noFill/>
          <a:ln/>
        </p:spPr>
        <p:txBody>
          <a:bodyPr wrap="square" rtlCol="0" anchor="ctr"/>
          <a:lstStyle/>
          <a:p>
            <a:pPr marL="0" indent="0" algn="ctr">
              <a:buNone/>
            </a:pPr>
            <a:r>
              <a:rPr lang="en-US" sz="7000" dirty="0">
                <a:solidFill>
                  <a:srgbClr val="000000"/>
                </a:solidFill>
              </a:rPr>
              <a:t>🌾</a:t>
            </a:r>
            <a:endParaRPr lang="en-US" sz="7000" dirty="0"/>
          </a:p>
        </p:txBody>
      </p:sp>
      <p:sp>
        <p:nvSpPr>
          <p:cNvPr id="8" name="Text 6"/>
          <p:cNvSpPr/>
          <p:nvPr/>
        </p:nvSpPr>
        <p:spPr>
          <a:xfrm>
            <a:off x="914400" y="1600200"/>
            <a:ext cx="10332720" cy="1188720"/>
          </a:xfrm>
          <a:prstGeom prst="rect">
            <a:avLst/>
          </a:prstGeom>
          <a:noFill/>
          <a:ln/>
        </p:spPr>
        <p:txBody>
          <a:bodyPr wrap="square" rtlCol="0" anchor="ctr"/>
          <a:lstStyle/>
          <a:p>
            <a:pPr marL="0" indent="0" algn="ctr">
              <a:buNone/>
            </a:pPr>
            <a:r>
              <a:rPr lang="en-US" sz="7200" b="1" dirty="0">
                <a:solidFill>
                  <a:srgbClr val="F59E0B"/>
                </a:solidFill>
                <a:latin typeface="Georgia" pitchFamily="34" charset="0"/>
                <a:ea typeface="Georgia" pitchFamily="34" charset="-122"/>
                <a:cs typeface="Georgia" pitchFamily="34" charset="-120"/>
              </a:rPr>
              <a:t>Thank You</a:t>
            </a:r>
            <a:endParaRPr lang="en-US" sz="7200" dirty="0"/>
          </a:p>
        </p:txBody>
      </p:sp>
      <p:sp>
        <p:nvSpPr>
          <p:cNvPr id="9" name="Text 7"/>
          <p:cNvSpPr/>
          <p:nvPr/>
        </p:nvSpPr>
        <p:spPr>
          <a:xfrm>
            <a:off x="914400" y="2788920"/>
            <a:ext cx="10332720" cy="502920"/>
          </a:xfrm>
          <a:prstGeom prst="rect">
            <a:avLst/>
          </a:prstGeom>
          <a:noFill/>
          <a:ln/>
        </p:spPr>
        <p:txBody>
          <a:bodyPr wrap="square" rtlCol="0" anchor="ctr"/>
          <a:lstStyle/>
          <a:p>
            <a:pPr marL="0" indent="0" algn="ctr">
              <a:buNone/>
            </a:pPr>
            <a:r>
              <a:rPr lang="en-US" sz="2000" b="1" dirty="0">
                <a:solidFill>
                  <a:srgbClr val="22C55E"/>
                </a:solidFill>
              </a:rPr>
              <a:t>Agri Price Prediction System</a:t>
            </a:r>
            <a:endParaRPr lang="en-US" sz="2000" dirty="0"/>
          </a:p>
        </p:txBody>
      </p:sp>
      <p:sp>
        <p:nvSpPr>
          <p:cNvPr id="10" name="Text 8"/>
          <p:cNvSpPr/>
          <p:nvPr/>
        </p:nvSpPr>
        <p:spPr>
          <a:xfrm>
            <a:off x="914400" y="3291840"/>
            <a:ext cx="10332720" cy="384048"/>
          </a:xfrm>
          <a:prstGeom prst="rect">
            <a:avLst/>
          </a:prstGeom>
          <a:noFill/>
          <a:ln/>
        </p:spPr>
        <p:txBody>
          <a:bodyPr wrap="square" rtlCol="0" anchor="ctr"/>
          <a:lstStyle/>
          <a:p>
            <a:pPr marL="0" indent="0" algn="ctr">
              <a:buNone/>
            </a:pPr>
            <a:r>
              <a:rPr lang="en-US" sz="1300" i="1" dirty="0">
                <a:solidFill>
                  <a:srgbClr val="A7F3D0"/>
                </a:solidFill>
              </a:rPr>
              <a:t>AI-Powered Crop Market Forecasting for Smarter Farmer Decisions</a:t>
            </a:r>
            <a:endParaRPr lang="en-US" sz="1300" dirty="0"/>
          </a:p>
        </p:txBody>
      </p:sp>
      <p:sp>
        <p:nvSpPr>
          <p:cNvPr id="11" name="Shape 9"/>
          <p:cNvSpPr/>
          <p:nvPr/>
        </p:nvSpPr>
        <p:spPr>
          <a:xfrm>
            <a:off x="3657600" y="3794760"/>
            <a:ext cx="4846320" cy="36576"/>
          </a:xfrm>
          <a:prstGeom prst="rect">
            <a:avLst/>
          </a:prstGeom>
          <a:solidFill>
            <a:srgbClr val="166534"/>
          </a:solidFill>
          <a:ln/>
        </p:spPr>
      </p:sp>
      <p:sp>
        <p:nvSpPr>
          <p:cNvPr id="12" name="Text 10"/>
          <p:cNvSpPr/>
          <p:nvPr/>
        </p:nvSpPr>
        <p:spPr>
          <a:xfrm>
            <a:off x="914400" y="3931920"/>
            <a:ext cx="10332720" cy="411480"/>
          </a:xfrm>
          <a:prstGeom prst="rect">
            <a:avLst/>
          </a:prstGeom>
          <a:noFill/>
          <a:ln/>
        </p:spPr>
        <p:txBody>
          <a:bodyPr wrap="square" rtlCol="0" anchor="ctr"/>
          <a:lstStyle/>
          <a:p>
            <a:pPr marL="0" indent="0" algn="ctr">
              <a:buNone/>
            </a:pPr>
            <a:r>
              <a:rPr lang="en-US" sz="1600" b="1" dirty="0">
                <a:solidFill>
                  <a:srgbClr val="FFFFFF"/>
                </a:solidFill>
              </a:rPr>
              <a:t>Team AXILLA</a:t>
            </a:r>
            <a:endParaRPr lang="en-US" sz="1600" dirty="0"/>
          </a:p>
        </p:txBody>
      </p:sp>
      <p:sp>
        <p:nvSpPr>
          <p:cNvPr id="13" name="Text 11"/>
          <p:cNvSpPr/>
          <p:nvPr/>
        </p:nvSpPr>
        <p:spPr>
          <a:xfrm>
            <a:off x="914400" y="4370832"/>
            <a:ext cx="10332720" cy="347472"/>
          </a:xfrm>
          <a:prstGeom prst="rect">
            <a:avLst/>
          </a:prstGeom>
          <a:noFill/>
          <a:ln/>
        </p:spPr>
        <p:txBody>
          <a:bodyPr wrap="square" rtlCol="0" anchor="ctr"/>
          <a:lstStyle/>
          <a:p>
            <a:pPr marL="0" indent="0" algn="ctr">
              <a:buNone/>
            </a:pPr>
            <a:r>
              <a:rPr lang="en-US" sz="1200" dirty="0">
                <a:solidFill>
                  <a:srgbClr val="A7F3D0"/>
                </a:solidFill>
              </a:rPr>
              <a:t>Snehal Muduli   ·   Shreyas Sahoo   ·   Arnab Bhattacharya   ·   Dharmanshu Kumar</a:t>
            </a:r>
            <a:endParaRPr lang="en-US" sz="1200" dirty="0"/>
          </a:p>
        </p:txBody>
      </p:sp>
      <p:sp>
        <p:nvSpPr>
          <p:cNvPr id="14" name="Text 12"/>
          <p:cNvSpPr/>
          <p:nvPr/>
        </p:nvSpPr>
        <p:spPr>
          <a:xfrm>
            <a:off x="914400" y="4736592"/>
            <a:ext cx="10332720" cy="320040"/>
          </a:xfrm>
          <a:prstGeom prst="rect">
            <a:avLst/>
          </a:prstGeom>
          <a:noFill/>
          <a:ln/>
        </p:spPr>
        <p:txBody>
          <a:bodyPr wrap="square" rtlCol="0" anchor="ctr"/>
          <a:lstStyle/>
          <a:p>
            <a:pPr marL="0" indent="0" algn="ctr">
              <a:buNone/>
            </a:pPr>
            <a:r>
              <a:rPr lang="en-US" sz="1150" i="1" dirty="0">
                <a:solidFill>
                  <a:srgbClr val="A7F3D0"/>
                </a:solidFill>
              </a:rPr>
              <a:t>IIT Kharagpur  ·  SRM Institute of Science &amp; Technology</a:t>
            </a:r>
            <a:endParaRPr lang="en-US" sz="1150" dirty="0"/>
          </a:p>
        </p:txBody>
      </p:sp>
      <p:sp>
        <p:nvSpPr>
          <p:cNvPr id="15" name="Text 13"/>
          <p:cNvSpPr/>
          <p:nvPr/>
        </p:nvSpPr>
        <p:spPr>
          <a:xfrm>
            <a:off x="914400" y="5102352"/>
            <a:ext cx="10332720" cy="320040"/>
          </a:xfrm>
          <a:prstGeom prst="rect">
            <a:avLst/>
          </a:prstGeom>
          <a:noFill/>
          <a:ln/>
        </p:spPr>
        <p:txBody>
          <a:bodyPr wrap="square" rtlCol="0" anchor="ctr"/>
          <a:lstStyle/>
          <a:p>
            <a:pPr marL="0" indent="0" algn="ctr">
              <a:buNone/>
            </a:pPr>
            <a:r>
              <a:rPr lang="en-US" sz="1100" dirty="0">
                <a:solidFill>
                  <a:srgbClr val="F59E0B"/>
                </a:solidFill>
              </a:rPr>
              <a:t>IDEATHON 2026  |  National Institute of Technology, Durgapur</a:t>
            </a:r>
            <a:endParaRPr lang="en-US" sz="1100" dirty="0"/>
          </a:p>
        </p:txBody>
      </p:sp>
      <p:sp>
        <p:nvSpPr>
          <p:cNvPr id="16" name="Shape 14"/>
          <p:cNvSpPr/>
          <p:nvPr/>
        </p:nvSpPr>
        <p:spPr>
          <a:xfrm>
            <a:off x="3200400" y="5577840"/>
            <a:ext cx="5760720" cy="658368"/>
          </a:xfrm>
          <a:prstGeom prst="rect">
            <a:avLst/>
          </a:prstGeom>
          <a:solidFill>
            <a:srgbClr val="166534"/>
          </a:solidFill>
          <a:ln/>
          <a:effectLst>
            <a:outerShdw blurRad="101600" dist="38100" dir="8100000" algn="bl" rotWithShape="0">
              <a:srgbClr val="000000">
                <a:alpha val="18000"/>
              </a:srgbClr>
            </a:outerShdw>
          </a:effectLst>
        </p:spPr>
      </p:sp>
      <p:sp>
        <p:nvSpPr>
          <p:cNvPr id="17" name="Text 15"/>
          <p:cNvSpPr/>
          <p:nvPr/>
        </p:nvSpPr>
        <p:spPr>
          <a:xfrm>
            <a:off x="3200400" y="5577840"/>
            <a:ext cx="5760720" cy="658368"/>
          </a:xfrm>
          <a:prstGeom prst="rect">
            <a:avLst/>
          </a:prstGeom>
          <a:noFill/>
          <a:ln/>
        </p:spPr>
        <p:txBody>
          <a:bodyPr wrap="square" rtlCol="0" anchor="ctr"/>
          <a:lstStyle/>
          <a:p>
            <a:pPr marL="0" indent="0" algn="ctr">
              <a:buNone/>
            </a:pPr>
            <a:r>
              <a:rPr lang="en-US" sz="1400" b="1" dirty="0">
                <a:solidFill>
                  <a:srgbClr val="FCD34D"/>
                </a:solidFill>
              </a:rPr>
              <a:t>Open for Questions &amp; Discussion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1558</Words>
  <Application>Microsoft Office PowerPoint</Application>
  <PresentationFormat>Widescreen</PresentationFormat>
  <Paragraphs>192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KisanPrice — AI-Powered Crop Market Forecasting</dc:title>
  <dc:subject>PptxGenJS Presentation</dc:subject>
  <dc:creator>Team AXILLA</dc:creator>
  <cp:lastModifiedBy>SNEHAL MUDULI</cp:lastModifiedBy>
  <cp:revision>2</cp:revision>
  <dcterms:created xsi:type="dcterms:W3CDTF">2026-05-15T09:02:59Z</dcterms:created>
  <dcterms:modified xsi:type="dcterms:W3CDTF">2026-05-15T09:37:10Z</dcterms:modified>
</cp:coreProperties>
</file>